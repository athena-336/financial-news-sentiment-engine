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nstrument Sans Medium"/>
      <p:regular r:id="rId19"/>
      <p:bold r:id="rId20"/>
      <p:italic r:id="rId21"/>
      <p:boldItalic r:id="rId22"/>
    </p:embeddedFont>
    <p:embeddedFont>
      <p:font typeface="Instrument Sans SemiBold"/>
      <p:regular r:id="rId23"/>
      <p:bold r:id="rId24"/>
      <p:italic r:id="rId25"/>
      <p:boldItalic r:id="rId26"/>
    </p:embeddedFont>
    <p:embeddedFont>
      <p:font typeface="Outfit"/>
      <p:regular r:id="rId27"/>
      <p:bold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Outfit SemiBold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04C9F4-EA30-433D-9D6C-0B40C501D035}">
  <a:tblStyle styleId="{C404C9F4-EA30-433D-9D6C-0B40C501D0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strumentSans-italic.fntdata"/><Relationship Id="rId30" Type="http://schemas.openxmlformats.org/officeDocument/2006/relationships/font" Target="fonts/InstrumentSans-bold.fntdata"/><Relationship Id="rId33" Type="http://schemas.openxmlformats.org/officeDocument/2006/relationships/font" Target="fonts/OutfitSemiBold-regular.fntdata"/><Relationship Id="rId32" Type="http://schemas.openxmlformats.org/officeDocument/2006/relationships/font" Target="fonts/InstrumentSans-boldItalic.fntdata"/><Relationship Id="rId35" Type="http://schemas.openxmlformats.org/officeDocument/2006/relationships/font" Target="fonts/RobotoMono-regular.fntdata"/><Relationship Id="rId34" Type="http://schemas.openxmlformats.org/officeDocument/2006/relationships/font" Target="fonts/OutfitSemiBold-bold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8" Type="http://schemas.openxmlformats.org/officeDocument/2006/relationships/font" Target="fonts/RobotoMono-boldItalic.fntdata"/><Relationship Id="rId20" Type="http://schemas.openxmlformats.org/officeDocument/2006/relationships/font" Target="fonts/InstrumentSansMedium-bold.fntdata"/><Relationship Id="rId22" Type="http://schemas.openxmlformats.org/officeDocument/2006/relationships/font" Target="fonts/InstrumentSansMedium-boldItalic.fntdata"/><Relationship Id="rId21" Type="http://schemas.openxmlformats.org/officeDocument/2006/relationships/font" Target="fonts/InstrumentSansMedium-italic.fntdata"/><Relationship Id="rId24" Type="http://schemas.openxmlformats.org/officeDocument/2006/relationships/font" Target="fonts/InstrumentSansSemiBold-bold.fntdata"/><Relationship Id="rId23" Type="http://schemas.openxmlformats.org/officeDocument/2006/relationships/font" Target="fonts/InstrumentSansSemiBold-regular.fntdata"/><Relationship Id="rId26" Type="http://schemas.openxmlformats.org/officeDocument/2006/relationships/font" Target="fonts/InstrumentSansSemiBold-boldItalic.fntdata"/><Relationship Id="rId25" Type="http://schemas.openxmlformats.org/officeDocument/2006/relationships/font" Target="fonts/InstrumentSansSemiBold-italic.fntdata"/><Relationship Id="rId28" Type="http://schemas.openxmlformats.org/officeDocument/2006/relationships/font" Target="fonts/Outfit-bold.fntdata"/><Relationship Id="rId27" Type="http://schemas.openxmlformats.org/officeDocument/2006/relationships/font" Target="fonts/Outfit-regular.fntdata"/><Relationship Id="rId29" Type="http://schemas.openxmlformats.org/officeDocument/2006/relationships/font" Target="fonts/InstrumentSans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strument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b522818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ab522818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b522818a0_0_1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b522818a0_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bae18bb4b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bae18bb4b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bae18bb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bae18bb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b522818a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b522818a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b522818a0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b522818a0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ab84ad50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ab84ad50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b522818a0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ab522818a0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b522818a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ab522818a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cead35369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cead35369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acead353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acead353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ab522818a0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ab522818a0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/>
          <p:nvPr>
            <p:ph idx="2" type="pic"/>
          </p:nvPr>
        </p:nvSpPr>
        <p:spPr>
          <a:xfrm>
            <a:off x="7064850" y="575175"/>
            <a:ext cx="1794600" cy="4283100"/>
          </a:xfrm>
          <a:prstGeom prst="roundRect">
            <a:avLst>
              <a:gd fmla="val 16555" name="adj"/>
            </a:avLst>
          </a:prstGeom>
          <a:noFill/>
          <a:ln>
            <a:noFill/>
          </a:ln>
        </p:spPr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" name="Google Shape;24;p4"/>
          <p:cNvSpPr txBox="1"/>
          <p:nvPr>
            <p:ph idx="2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BLANK_1_1_1_1_1_1_1_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fmla="val 607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3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6"/>
          <p:cNvSpPr txBox="1"/>
          <p:nvPr>
            <p:ph idx="2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7" name="Google Shape;37;p7"/>
          <p:cNvSpPr txBox="1"/>
          <p:nvPr>
            <p:ph idx="3" type="subTitle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8" name="Google Shape;38;p7"/>
          <p:cNvSpPr txBox="1"/>
          <p:nvPr>
            <p:ph idx="4" type="subTitle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39" name="Google Shape;39;p7"/>
          <p:cNvSpPr txBox="1"/>
          <p:nvPr>
            <p:ph idx="5" type="subTitle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" name="Google Shape;40;p7"/>
          <p:cNvSpPr txBox="1"/>
          <p:nvPr>
            <p:ph idx="6" type="subTitle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1" name="Google Shape;41;p7"/>
          <p:cNvSpPr txBox="1"/>
          <p:nvPr>
            <p:ph idx="7" type="subTitle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2" name="Google Shape;42;p7"/>
          <p:cNvSpPr txBox="1"/>
          <p:nvPr>
            <p:ph idx="8" type="subTitle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3" name="Google Shape;43;p7"/>
          <p:cNvSpPr txBox="1"/>
          <p:nvPr>
            <p:ph idx="9" type="subTitle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3" type="subTitle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4" type="subTitle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5" type="subTitle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6" type="subTitle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7" type="subTitle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8" type="subTitle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9" type="subTitle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_1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>
            <p:ph idx="2" type="pic"/>
          </p:nvPr>
        </p:nvSpPr>
        <p:spPr>
          <a:xfrm>
            <a:off x="284650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3" name="Google Shape;53;p8"/>
          <p:cNvSpPr txBox="1"/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8"/>
          <p:cNvSpPr/>
          <p:nvPr>
            <p:ph idx="3" type="pic"/>
          </p:nvPr>
        </p:nvSpPr>
        <p:spPr>
          <a:xfrm>
            <a:off x="284650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8"/>
          <p:cNvSpPr/>
          <p:nvPr>
            <p:ph idx="4" type="pic"/>
          </p:nvPr>
        </p:nvSpPr>
        <p:spPr>
          <a:xfrm>
            <a:off x="3178288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8"/>
          <p:cNvSpPr/>
          <p:nvPr>
            <p:ph idx="5" type="pic"/>
          </p:nvPr>
        </p:nvSpPr>
        <p:spPr>
          <a:xfrm>
            <a:off x="3178288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8"/>
          <p:cNvSpPr/>
          <p:nvPr>
            <p:ph idx="6" type="pic"/>
          </p:nvPr>
        </p:nvSpPr>
        <p:spPr>
          <a:xfrm>
            <a:off x="6071925" y="262312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" name="Google Shape;59;p8"/>
          <p:cNvSpPr/>
          <p:nvPr>
            <p:ph idx="7" type="pic"/>
          </p:nvPr>
        </p:nvSpPr>
        <p:spPr>
          <a:xfrm>
            <a:off x="6071925" y="3739875"/>
            <a:ext cx="723300" cy="101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/>
          <p:nvPr>
            <p:ph idx="8" type="subTitle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9" type="subTitle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3" type="subTitle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4" type="subTitle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5" type="subTitle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anchorCtr="0" anchor="b" bIns="137150" lIns="137150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">
  <p:cSld name="CUSTOM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8" name="Google Shape;68;p9"/>
          <p:cNvSpPr txBox="1"/>
          <p:nvPr>
            <p:ph idx="2" type="subTitle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9"/>
          <p:cNvSpPr txBox="1"/>
          <p:nvPr>
            <p:ph idx="3" type="subTitle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0" name="Google Shape;70;p9"/>
          <p:cNvSpPr txBox="1"/>
          <p:nvPr>
            <p:ph idx="4" type="subTitle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1" name="Google Shape;71;p9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72" name="Google Shape;72;p9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>
            <p:ph idx="2" type="pic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80" name="Google Shape;80;p10"/>
          <p:cNvSpPr txBox="1"/>
          <p:nvPr>
            <p:ph idx="6" type="body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3175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5" name="Google Shape;85;p11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" name="Google Shape;86;p11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87" name="Google Shape;87;p11"/>
          <p:cNvSpPr txBox="1"/>
          <p:nvPr>
            <p:ph idx="5" type="title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9" name="Google Shape;89;p11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0" name="Google Shape;90;p11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91" name="Google Shape;91;p11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5" name="Google Shape;95;p12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6" name="Google Shape;96;p12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97" name="Google Shape;97;p12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98" name="Google Shape;98;p12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9" name="Google Shape;99;p12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1" name="Google Shape;101;p12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02" name="Google Shape;102;p12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BLANK_1_1_1_1_1_1_1_1_1_1_1_1_1_1_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idx="1" type="body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5" name="Google Shape;105;p13"/>
          <p:cNvSpPr txBox="1"/>
          <p:nvPr>
            <p:ph idx="2" type="body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" name="Google Shape;106;p13"/>
          <p:cNvSpPr txBox="1"/>
          <p:nvPr>
            <p:ph idx="3" type="body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7" name="Google Shape;107;p13"/>
          <p:cNvSpPr txBox="1"/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08" name="Google Shape;108;p13"/>
          <p:cNvSpPr txBox="1"/>
          <p:nvPr>
            <p:ph idx="4" type="subTitle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09" name="Google Shape;109;p13"/>
          <p:cNvSpPr txBox="1"/>
          <p:nvPr>
            <p:ph idx="5" type="title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0" name="Google Shape;110;p13"/>
          <p:cNvSpPr txBox="1"/>
          <p:nvPr>
            <p:ph idx="6" type="subTitle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7" type="title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12" name="Google Shape;112;p13"/>
          <p:cNvSpPr txBox="1"/>
          <p:nvPr>
            <p:ph idx="8" type="subTitle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4" name="Google Shape;114;p13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15" name="Google Shape;115;p13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1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14"/>
          <p:cNvSpPr txBox="1"/>
          <p:nvPr>
            <p:ph idx="3" type="body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0" name="Google Shape;120;p14"/>
          <p:cNvSpPr txBox="1"/>
          <p:nvPr>
            <p:ph idx="4" type="body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1" name="Google Shape;121;p14"/>
          <p:cNvSpPr/>
          <p:nvPr>
            <p:ph idx="5" type="pic"/>
          </p:nvPr>
        </p:nvSpPr>
        <p:spPr>
          <a:xfrm>
            <a:off x="1733625" y="1872750"/>
            <a:ext cx="2304000" cy="748500"/>
          </a:xfrm>
          <a:prstGeom prst="roundRect">
            <a:avLst>
              <a:gd fmla="val 15661" name="adj"/>
            </a:avLst>
          </a:prstGeom>
          <a:noFill/>
          <a:ln>
            <a:noFill/>
          </a:ln>
        </p:spPr>
      </p:sp>
      <p:sp>
        <p:nvSpPr>
          <p:cNvPr id="122" name="Google Shape;122;p14"/>
          <p:cNvSpPr/>
          <p:nvPr>
            <p:ph idx="6" type="pic"/>
          </p:nvPr>
        </p:nvSpPr>
        <p:spPr>
          <a:xfrm>
            <a:off x="4144025" y="1872750"/>
            <a:ext cx="2304000" cy="10755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23" name="Google Shape;123;p14"/>
          <p:cNvSpPr/>
          <p:nvPr>
            <p:ph idx="7" type="pic"/>
          </p:nvPr>
        </p:nvSpPr>
        <p:spPr>
          <a:xfrm>
            <a:off x="6556525" y="1872750"/>
            <a:ext cx="2304000" cy="1286700"/>
          </a:xfrm>
          <a:prstGeom prst="roundRect">
            <a:avLst>
              <a:gd fmla="val 12543" name="adj"/>
            </a:avLst>
          </a:prstGeom>
          <a:noFill/>
          <a:ln>
            <a:noFill/>
          </a:ln>
        </p:spPr>
      </p:sp>
      <p:sp>
        <p:nvSpPr>
          <p:cNvPr id="124" name="Google Shape;124;p14"/>
          <p:cNvSpPr txBox="1"/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5" name="Google Shape;125;p14"/>
          <p:cNvSpPr txBox="1"/>
          <p:nvPr>
            <p:ph idx="8" type="title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6" name="Google Shape;126;p14"/>
          <p:cNvSpPr txBox="1"/>
          <p:nvPr>
            <p:ph idx="9" type="title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7" name="Google Shape;127;p14"/>
          <p:cNvSpPr txBox="1"/>
          <p:nvPr>
            <p:ph idx="13" type="title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128" name="Google Shape;128;p14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29" name="Google Shape;129;p14"/>
          <p:cNvSpPr txBox="1"/>
          <p:nvPr>
            <p:ph idx="15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CUSTOM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/>
          <p:nvPr>
            <p:ph idx="1" type="body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2" name="Google Shape;132;p15"/>
          <p:cNvSpPr txBox="1"/>
          <p:nvPr>
            <p:ph idx="2" type="body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3" name="Google Shape;133;p15"/>
          <p:cNvSpPr txBox="1"/>
          <p:nvPr>
            <p:ph idx="3" type="body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34" name="Google Shape;134;p15"/>
          <p:cNvSpPr txBox="1"/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5" name="Google Shape;135;p15"/>
          <p:cNvSpPr/>
          <p:nvPr>
            <p:ph idx="4" type="pic"/>
          </p:nvPr>
        </p:nvSpPr>
        <p:spPr>
          <a:xfrm>
            <a:off x="4144025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6" name="Google Shape;136;p15"/>
          <p:cNvSpPr/>
          <p:nvPr>
            <p:ph idx="5" type="pic"/>
          </p:nvPr>
        </p:nvSpPr>
        <p:spPr>
          <a:xfrm>
            <a:off x="17332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7" name="Google Shape;137;p15"/>
          <p:cNvSpPr txBox="1"/>
          <p:nvPr>
            <p:ph idx="6" type="title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38" name="Google Shape;138;p15"/>
          <p:cNvSpPr/>
          <p:nvPr>
            <p:ph idx="7" type="pic"/>
          </p:nvPr>
        </p:nvSpPr>
        <p:spPr>
          <a:xfrm>
            <a:off x="6556600" y="1872750"/>
            <a:ext cx="2304000" cy="1111800"/>
          </a:xfrm>
          <a:prstGeom prst="roundRect">
            <a:avLst>
              <a:gd fmla="val 13968" name="adj"/>
            </a:avLst>
          </a:prstGeom>
          <a:noFill/>
          <a:ln>
            <a:noFill/>
          </a:ln>
        </p:spPr>
      </p:sp>
      <p:sp>
        <p:nvSpPr>
          <p:cNvPr id="139" name="Google Shape;139;p15"/>
          <p:cNvSpPr txBox="1"/>
          <p:nvPr>
            <p:ph idx="8" type="title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0" name="Google Shape;140;p15"/>
          <p:cNvSpPr txBox="1"/>
          <p:nvPr>
            <p:ph idx="9" type="title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1" name="Google Shape;141;p15"/>
          <p:cNvSpPr txBox="1"/>
          <p:nvPr>
            <p:ph idx="13" type="title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2" name="Google Shape;142;p15"/>
          <p:cNvSpPr txBox="1"/>
          <p:nvPr>
            <p:ph idx="14" type="title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43" name="Google Shape;143;p15"/>
          <p:cNvSpPr txBox="1"/>
          <p:nvPr>
            <p:ph idx="15" type="title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44" name="Google Shape;144;p15"/>
          <p:cNvSpPr txBox="1"/>
          <p:nvPr>
            <p:ph idx="16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5" name="Google Shape;145;p15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1_4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anchorCtr="0" anchor="b" bIns="274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5" type="subTitle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6" type="subTitle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157" name="Google Shape;157;p16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58" name="Google Shape;158;p16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2" name="Google Shape;162;p17"/>
          <p:cNvSpPr txBox="1"/>
          <p:nvPr>
            <p:ph idx="2" type="title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3" name="Google Shape;163;p17"/>
          <p:cNvSpPr txBox="1"/>
          <p:nvPr>
            <p:ph idx="3" type="body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4" name="Google Shape;164;p17"/>
          <p:cNvSpPr txBox="1"/>
          <p:nvPr>
            <p:ph idx="4" type="title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5" name="Google Shape;165;p17"/>
          <p:cNvSpPr txBox="1"/>
          <p:nvPr>
            <p:ph idx="5" type="body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6" name="Google Shape;166;p17"/>
          <p:cNvSpPr txBox="1"/>
          <p:nvPr>
            <p:ph idx="6" type="title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7" name="Google Shape;167;p17"/>
          <p:cNvSpPr txBox="1"/>
          <p:nvPr>
            <p:ph idx="7" type="body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17"/>
          <p:cNvSpPr txBox="1"/>
          <p:nvPr>
            <p:ph idx="8" type="title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9" name="Google Shape;169;p17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0" name="Google Shape;170;p17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71" name="Google Shape;171;p17"/>
          <p:cNvSpPr txBox="1"/>
          <p:nvPr>
            <p:ph idx="14" type="title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2" name="Google Shape;172;p17"/>
          <p:cNvSpPr txBox="1"/>
          <p:nvPr>
            <p:ph idx="15" type="title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16" type="title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74" name="Google Shape;174;p17"/>
          <p:cNvSpPr txBox="1"/>
          <p:nvPr>
            <p:ph idx="17" type="title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4">
  <p:cSld name="CUSTOM_2_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7" name="Google Shape;177;p18"/>
          <p:cNvSpPr txBox="1"/>
          <p:nvPr>
            <p:ph idx="2" type="body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3" type="body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9" name="Google Shape;179;p18"/>
          <p:cNvSpPr txBox="1"/>
          <p:nvPr>
            <p:ph idx="4" type="body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80" name="Google Shape;180;p18"/>
          <p:cNvSpPr txBox="1"/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5" type="title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2" name="Google Shape;182;p18"/>
          <p:cNvSpPr txBox="1"/>
          <p:nvPr>
            <p:ph idx="6" type="title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3" name="Google Shape;183;p18"/>
          <p:cNvSpPr txBox="1"/>
          <p:nvPr>
            <p:ph idx="7" type="title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84" name="Google Shape;184;p18"/>
          <p:cNvSpPr txBox="1"/>
          <p:nvPr>
            <p:ph idx="8" type="title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5" name="Google Shape;185;p18"/>
          <p:cNvSpPr txBox="1"/>
          <p:nvPr>
            <p:ph idx="9" type="body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186" name="Google Shape;186;p18"/>
          <p:cNvSpPr txBox="1"/>
          <p:nvPr>
            <p:ph idx="13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87" name="Google Shape;187;p18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5">
  <p:cSld name="CUSTOM_6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0" name="Google Shape;190;p19"/>
          <p:cNvSpPr txBox="1"/>
          <p:nvPr>
            <p:ph idx="2" type="title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1" name="Google Shape;191;p19"/>
          <p:cNvSpPr txBox="1"/>
          <p:nvPr>
            <p:ph idx="3" type="title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2" name="Google Shape;192;p19"/>
          <p:cNvSpPr txBox="1"/>
          <p:nvPr>
            <p:ph idx="4" type="title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body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5" name="Google Shape;195;p19"/>
          <p:cNvSpPr txBox="1"/>
          <p:nvPr>
            <p:ph idx="6"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6" name="Google Shape;196;p19"/>
          <p:cNvSpPr txBox="1"/>
          <p:nvPr>
            <p:ph idx="7" type="title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7" name="Google Shape;197;p19"/>
          <p:cNvSpPr txBox="1"/>
          <p:nvPr>
            <p:ph idx="8" type="title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9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19"/>
          <p:cNvSpPr txBox="1"/>
          <p:nvPr>
            <p:ph idx="13" type="title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anchorCtr="0" anchor="t" bIns="0" lIns="18287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4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01" name="Google Shape;201;p19"/>
          <p:cNvSpPr txBox="1"/>
          <p:nvPr>
            <p:ph idx="15" type="body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body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anchorCtr="0" anchor="t" bIns="91425" lIns="155425" spcFirstLastPara="1" rIns="13715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6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20"/>
          <p:cNvSpPr txBox="1"/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3" type="body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anchorCtr="0" anchor="b" bIns="182875" lIns="182875" spcFirstLastPara="1" rIns="18287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9" name="Google Shape;209;p20"/>
          <p:cNvSpPr txBox="1"/>
          <p:nvPr>
            <p:ph idx="4" type="title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0" name="Google Shape;210;p20"/>
          <p:cNvSpPr txBox="1"/>
          <p:nvPr>
            <p:ph idx="5" type="title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11" name="Google Shape;211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fmla="val 13968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20"/>
          <p:cNvSpPr/>
          <p:nvPr>
            <p:ph idx="7" type="pic"/>
          </p:nvPr>
        </p:nvSpPr>
        <p:spPr>
          <a:xfrm>
            <a:off x="2561025" y="389125"/>
            <a:ext cx="1957500" cy="2025300"/>
          </a:xfrm>
          <a:prstGeom prst="roundRect">
            <a:avLst>
              <a:gd fmla="val 7835" name="adj"/>
            </a:avLst>
          </a:prstGeom>
          <a:noFill/>
          <a:ln>
            <a:noFill/>
          </a:ln>
        </p:spPr>
      </p:sp>
      <p:sp>
        <p:nvSpPr>
          <p:cNvPr id="214" name="Google Shape;214;p20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15" name="Google Shape;215;p20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">
  <p:cSld name="CUSTOM_7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2" type="title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3" type="title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1" name="Google Shape;221;p21"/>
          <p:cNvSpPr txBox="1"/>
          <p:nvPr>
            <p:ph idx="4" type="title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5" type="title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6" type="title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/>
            </a:lvl9pPr>
          </a:lstStyle>
          <a:p/>
        </p:txBody>
      </p:sp>
      <p:sp>
        <p:nvSpPr>
          <p:cNvPr id="224" name="Google Shape;224;p21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25" name="Google Shape;225;p21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big ideas - Alt 1">
  <p:cSld name="CUSTOM_8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idx="1" type="body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anchorCtr="0" anchor="b" bIns="182875" lIns="164575" spcFirstLastPara="1" rIns="18287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2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35" name="Google Shape;235;p22"/>
          <p:cNvSpPr txBox="1"/>
          <p:nvPr>
            <p:ph idx="8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2">
  <p:cSld name="BLANK_1_1_1_1_1_1_1_1_1_1_1_1_1_1_1_1_1_3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>
            <p:ph idx="1" type="body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23"/>
          <p:cNvSpPr txBox="1"/>
          <p:nvPr>
            <p:ph idx="2" type="body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23"/>
          <p:cNvSpPr txBox="1"/>
          <p:nvPr>
            <p:ph idx="3" type="body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23"/>
          <p:cNvSpPr txBox="1"/>
          <p:nvPr>
            <p:ph idx="4" type="body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41" name="Google Shape;241;p23"/>
          <p:cNvSpPr txBox="1"/>
          <p:nvPr>
            <p:ph idx="5" type="subTitle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2" name="Google Shape;242;p23"/>
          <p:cNvSpPr/>
          <p:nvPr>
            <p:ph idx="6" type="pic"/>
          </p:nvPr>
        </p:nvSpPr>
        <p:spPr>
          <a:xfrm>
            <a:off x="1731400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3" name="Google Shape;243;p23"/>
          <p:cNvSpPr/>
          <p:nvPr>
            <p:ph idx="7" type="pic"/>
          </p:nvPr>
        </p:nvSpPr>
        <p:spPr>
          <a:xfrm>
            <a:off x="5348325" y="967275"/>
            <a:ext cx="2064000" cy="1273500"/>
          </a:xfrm>
          <a:prstGeom prst="round2DiagRect">
            <a:avLst>
              <a:gd fmla="val 0" name="adj1"/>
              <a:gd fmla="val 16572" name="adj2"/>
            </a:avLst>
          </a:prstGeom>
          <a:noFill/>
          <a:ln>
            <a:noFill/>
          </a:ln>
        </p:spPr>
      </p:sp>
      <p:sp>
        <p:nvSpPr>
          <p:cNvPr id="244" name="Google Shape;244;p23"/>
          <p:cNvSpPr txBox="1"/>
          <p:nvPr>
            <p:ph idx="8" type="subTitle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45" name="Google Shape;245;p23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6" name="Google Shape;246;p23"/>
          <p:cNvSpPr txBox="1"/>
          <p:nvPr>
            <p:ph idx="9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47" name="Google Shape;247;p23"/>
          <p:cNvSpPr txBox="1"/>
          <p:nvPr>
            <p:ph idx="13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">
  <p:cSld name="CUSTOM"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idx="1" type="subTitle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0" name="Google Shape;250;p24"/>
          <p:cNvSpPr/>
          <p:nvPr>
            <p:ph idx="2" type="pic"/>
          </p:nvPr>
        </p:nvSpPr>
        <p:spPr>
          <a:xfrm>
            <a:off x="245502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1" name="Google Shape;251;p24"/>
          <p:cNvSpPr txBox="1"/>
          <p:nvPr>
            <p:ph idx="3" type="subTitle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2" name="Google Shape;252;p24"/>
          <p:cNvSpPr/>
          <p:nvPr>
            <p:ph idx="4" type="pic"/>
          </p:nvPr>
        </p:nvSpPr>
        <p:spPr>
          <a:xfrm>
            <a:off x="462500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4"/>
          <p:cNvSpPr txBox="1"/>
          <p:nvPr>
            <p:ph idx="5" type="subTitle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4" name="Google Shape;254;p24"/>
          <p:cNvSpPr/>
          <p:nvPr>
            <p:ph idx="6" type="pic"/>
          </p:nvPr>
        </p:nvSpPr>
        <p:spPr>
          <a:xfrm>
            <a:off x="285050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5" name="Google Shape;255;p24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7" type="body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7" name="Google Shape;257;p24"/>
          <p:cNvSpPr txBox="1"/>
          <p:nvPr>
            <p:ph idx="8" type="subTitle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258" name="Google Shape;258;p24"/>
          <p:cNvSpPr txBox="1"/>
          <p:nvPr>
            <p:ph idx="9" type="body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59" name="Google Shape;259;p24"/>
          <p:cNvSpPr txBox="1"/>
          <p:nvPr>
            <p:ph idx="13" type="body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0" name="Google Shape;260;p24"/>
          <p:cNvSpPr txBox="1"/>
          <p:nvPr>
            <p:ph idx="14" type="body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1" name="Google Shape;261;p24"/>
          <p:cNvSpPr/>
          <p:nvPr>
            <p:ph idx="15" type="pic"/>
          </p:nvPr>
        </p:nvSpPr>
        <p:spPr>
          <a:xfrm>
            <a:off x="6794975" y="1980250"/>
            <a:ext cx="2064000" cy="112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3">
  <p:cSld name="CUSTOM_3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>
            <p:ph idx="2" type="pic"/>
          </p:nvPr>
        </p:nvSpPr>
        <p:spPr>
          <a:xfrm>
            <a:off x="5965025" y="3740450"/>
            <a:ext cx="2894400" cy="1116900"/>
          </a:xfrm>
          <a:prstGeom prst="roundRect">
            <a:avLst>
              <a:gd fmla="val 13273" name="adj"/>
            </a:avLst>
          </a:prstGeom>
          <a:noFill/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flipH="1" rot="10800000">
            <a:off x="575775" y="282975"/>
            <a:ext cx="7992600" cy="3457500"/>
          </a:xfrm>
          <a:prstGeom prst="round2DiagRect">
            <a:avLst>
              <a:gd fmla="val 9463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5"/>
          <p:cNvSpPr/>
          <p:nvPr/>
        </p:nvSpPr>
        <p:spPr>
          <a:xfrm flipH="1" rot="10800000">
            <a:off x="575775" y="3740475"/>
            <a:ext cx="5389200" cy="1116900"/>
          </a:xfrm>
          <a:prstGeom prst="round2DiagRect">
            <a:avLst>
              <a:gd fmla="val 1600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25"/>
          <p:cNvSpPr txBox="1"/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25"/>
          <p:cNvSpPr txBox="1"/>
          <p:nvPr>
            <p:ph idx="1" type="subTitle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1">
  <p:cSld name="CUSTOM_4"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/>
          <p:nvPr>
            <p:ph idx="2" type="pic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6"/>
          <p:cNvSpPr/>
          <p:nvPr>
            <p:ph idx="3" type="pic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6"/>
          <p:cNvSpPr/>
          <p:nvPr>
            <p:ph idx="4" type="pic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6"/>
          <p:cNvSpPr/>
          <p:nvPr>
            <p:ph idx="5" type="pic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6"/>
          <p:cNvSpPr txBox="1"/>
          <p:nvPr>
            <p:ph idx="1" type="subTitle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6" type="subTitle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26"/>
          <p:cNvSpPr txBox="1"/>
          <p:nvPr>
            <p:ph idx="7" type="subTitle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8" type="subTitle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1" sz="1800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9" name="Google Shape;279;p26"/>
          <p:cNvSpPr txBox="1"/>
          <p:nvPr>
            <p:ph idx="9" type="subTitle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26"/>
          <p:cNvSpPr txBox="1"/>
          <p:nvPr>
            <p:ph idx="13" type="subTitle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26"/>
          <p:cNvSpPr txBox="1"/>
          <p:nvPr>
            <p:ph idx="14" type="subTitle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26"/>
          <p:cNvSpPr txBox="1"/>
          <p:nvPr>
            <p:ph idx="15" type="subTitle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ards - Alt 2">
  <p:cSld name="CUSTOM_12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6" name="Google Shape;286;p27"/>
          <p:cNvSpPr/>
          <p:nvPr>
            <p:ph idx="2" type="pic"/>
          </p:nvPr>
        </p:nvSpPr>
        <p:spPr>
          <a:xfrm>
            <a:off x="1731450" y="1277775"/>
            <a:ext cx="2062500" cy="3352200"/>
          </a:xfrm>
          <a:prstGeom prst="roundRect">
            <a:avLst>
              <a:gd fmla="val 10994" name="adj"/>
            </a:avLst>
          </a:prstGeom>
          <a:noFill/>
          <a:ln>
            <a:noFill/>
          </a:ln>
        </p:spPr>
      </p:sp>
      <p:sp>
        <p:nvSpPr>
          <p:cNvPr id="287" name="Google Shape;287;p27"/>
          <p:cNvSpPr txBox="1"/>
          <p:nvPr>
            <p:ph idx="3"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8" name="Google Shape;288;p27"/>
          <p:cNvSpPr txBox="1"/>
          <p:nvPr>
            <p:ph idx="1" type="subTitle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4" type="title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anchorCtr="0" anchor="t" bIns="0" lIns="164575" spcFirstLastPara="1" rIns="91425" wrap="square" tIns="1645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5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1" name="Google Shape;291;p27"/>
          <p:cNvSpPr txBox="1"/>
          <p:nvPr>
            <p:ph idx="6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292" name="Google Shape;292;p27"/>
          <p:cNvSpPr txBox="1"/>
          <p:nvPr>
            <p:ph idx="7" type="subTitle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7"/>
          <p:cNvSpPr txBox="1"/>
          <p:nvPr>
            <p:ph idx="8" type="subTitle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4" name="Google Shape;294;p27"/>
          <p:cNvSpPr txBox="1"/>
          <p:nvPr>
            <p:ph idx="9" type="subTitle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5" name="Google Shape;295;p27"/>
          <p:cNvSpPr txBox="1"/>
          <p:nvPr>
            <p:ph idx="13" type="subTitle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able">
  <p:cSld name="CUSTOM_1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8" name="Google Shape;298;p28"/>
          <p:cNvSpPr txBox="1"/>
          <p:nvPr>
            <p:ph idx="1" type="subTitle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2" type="subTitle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3" type="subTitle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1" name="Google Shape;301;p28"/>
          <p:cNvSpPr txBox="1"/>
          <p:nvPr>
            <p:ph idx="4" type="subTitle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2" name="Google Shape;302;p28"/>
          <p:cNvSpPr txBox="1"/>
          <p:nvPr>
            <p:ph idx="5" type="subTitle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6" type="subTitle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7" type="subTitle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8" type="subTitle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9" type="subTitle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7" name="Google Shape;307;p28"/>
          <p:cNvSpPr txBox="1"/>
          <p:nvPr>
            <p:ph idx="13" type="subTitle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8" name="Google Shape;308;p28"/>
          <p:cNvSpPr txBox="1"/>
          <p:nvPr>
            <p:ph idx="14" type="subTitle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09" name="Google Shape;309;p28"/>
          <p:cNvSpPr txBox="1"/>
          <p:nvPr>
            <p:ph idx="15" type="subTitle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0" name="Google Shape;310;p28"/>
          <p:cNvSpPr txBox="1"/>
          <p:nvPr>
            <p:ph idx="16" type="subTitle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1" name="Google Shape;311;p28"/>
          <p:cNvSpPr txBox="1"/>
          <p:nvPr>
            <p:ph idx="17" type="subTitle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2" name="Google Shape;312;p28"/>
          <p:cNvSpPr txBox="1"/>
          <p:nvPr>
            <p:ph idx="18" type="subTitle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313" name="Google Shape;313;p28"/>
          <p:cNvSpPr txBox="1"/>
          <p:nvPr>
            <p:ph idx="19" type="subTitle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6" name="Google Shape;3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0" name="Google Shape;3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45" name="Google Shape;3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9" name="Google Shape;3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53" name="Google Shape;3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7" name="Google Shape;3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8" name="Google Shape;3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4" name="Google Shape;3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5" name="Google Shape;3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5" name="Google Shape;3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1" name="Google Shape;3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4" name="Google Shape;3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7" name="Google Shape;3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88" name="Google Shape;3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9" name="Google Shape;3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7" name="Google Shape;3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398" name="Google Shape;3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9" name="Google Shape;3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0" name="Google Shape;4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/>
        </p:txBody>
      </p:sp>
      <p:sp>
        <p:nvSpPr>
          <p:cNvPr id="411" name="Google Shape;4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/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Financial News Sentiment Engine </a:t>
            </a:r>
            <a:endParaRPr sz="4400"/>
          </a:p>
        </p:txBody>
      </p:sp>
      <p:sp>
        <p:nvSpPr>
          <p:cNvPr id="419" name="Google Shape;419;p50"/>
          <p:cNvSpPr/>
          <p:nvPr/>
        </p:nvSpPr>
        <p:spPr>
          <a:xfrm>
            <a:off x="6475559" y="4286678"/>
            <a:ext cx="256800" cy="256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Shopping bag icon" id="420" name="Google Shape;420;p50"/>
          <p:cNvSpPr/>
          <p:nvPr/>
        </p:nvSpPr>
        <p:spPr>
          <a:xfrm>
            <a:off x="6547475" y="4339354"/>
            <a:ext cx="113107" cy="131833"/>
          </a:xfrm>
          <a:custGeom>
            <a:rect b="b" l="l" r="r" t="t"/>
            <a:pathLst>
              <a:path extrusionOk="0" h="29642" w="25446">
                <a:moveTo>
                  <a:pt x="12723" y="2798"/>
                </a:moveTo>
                <a:lnTo>
                  <a:pt x="13160" y="2842"/>
                </a:lnTo>
                <a:lnTo>
                  <a:pt x="13598" y="2885"/>
                </a:lnTo>
                <a:lnTo>
                  <a:pt x="13991" y="2973"/>
                </a:lnTo>
                <a:lnTo>
                  <a:pt x="14341" y="3104"/>
                </a:lnTo>
                <a:lnTo>
                  <a:pt x="14734" y="3279"/>
                </a:lnTo>
                <a:lnTo>
                  <a:pt x="15084" y="3498"/>
                </a:lnTo>
                <a:lnTo>
                  <a:pt x="15434" y="3760"/>
                </a:lnTo>
                <a:lnTo>
                  <a:pt x="15740" y="4022"/>
                </a:lnTo>
                <a:lnTo>
                  <a:pt x="16002" y="4372"/>
                </a:lnTo>
                <a:lnTo>
                  <a:pt x="16265" y="4678"/>
                </a:lnTo>
                <a:lnTo>
                  <a:pt x="16483" y="5028"/>
                </a:lnTo>
                <a:lnTo>
                  <a:pt x="16658" y="5421"/>
                </a:lnTo>
                <a:lnTo>
                  <a:pt x="16789" y="5815"/>
                </a:lnTo>
                <a:lnTo>
                  <a:pt x="16877" y="6208"/>
                </a:lnTo>
                <a:lnTo>
                  <a:pt x="16964" y="6602"/>
                </a:lnTo>
                <a:lnTo>
                  <a:pt x="16964" y="7039"/>
                </a:lnTo>
                <a:lnTo>
                  <a:pt x="8482" y="7039"/>
                </a:lnTo>
                <a:lnTo>
                  <a:pt x="8526" y="6602"/>
                </a:lnTo>
                <a:lnTo>
                  <a:pt x="8570" y="6208"/>
                </a:lnTo>
                <a:lnTo>
                  <a:pt x="8657" y="5815"/>
                </a:lnTo>
                <a:lnTo>
                  <a:pt x="8789" y="5421"/>
                </a:lnTo>
                <a:lnTo>
                  <a:pt x="8963" y="5028"/>
                </a:lnTo>
                <a:lnTo>
                  <a:pt x="9182" y="4678"/>
                </a:lnTo>
                <a:lnTo>
                  <a:pt x="9444" y="4372"/>
                </a:lnTo>
                <a:lnTo>
                  <a:pt x="9707" y="4022"/>
                </a:lnTo>
                <a:lnTo>
                  <a:pt x="10056" y="3760"/>
                </a:lnTo>
                <a:lnTo>
                  <a:pt x="10362" y="3498"/>
                </a:lnTo>
                <a:lnTo>
                  <a:pt x="10712" y="3279"/>
                </a:lnTo>
                <a:lnTo>
                  <a:pt x="11106" y="3104"/>
                </a:lnTo>
                <a:lnTo>
                  <a:pt x="11499" y="2973"/>
                </a:lnTo>
                <a:lnTo>
                  <a:pt x="11893" y="2885"/>
                </a:lnTo>
                <a:lnTo>
                  <a:pt x="12286" y="2842"/>
                </a:lnTo>
                <a:lnTo>
                  <a:pt x="12723" y="2798"/>
                </a:lnTo>
                <a:close/>
                <a:moveTo>
                  <a:pt x="5684" y="11280"/>
                </a:moveTo>
                <a:lnTo>
                  <a:pt x="5684" y="11979"/>
                </a:lnTo>
                <a:lnTo>
                  <a:pt x="5816" y="12679"/>
                </a:lnTo>
                <a:lnTo>
                  <a:pt x="5947" y="13378"/>
                </a:lnTo>
                <a:lnTo>
                  <a:pt x="6165" y="13990"/>
                </a:lnTo>
                <a:lnTo>
                  <a:pt x="6471" y="14602"/>
                </a:lnTo>
                <a:lnTo>
                  <a:pt x="6821" y="15171"/>
                </a:lnTo>
                <a:lnTo>
                  <a:pt x="7258" y="15739"/>
                </a:lnTo>
                <a:lnTo>
                  <a:pt x="7739" y="16264"/>
                </a:lnTo>
                <a:lnTo>
                  <a:pt x="8264" y="16744"/>
                </a:lnTo>
                <a:lnTo>
                  <a:pt x="8832" y="17182"/>
                </a:lnTo>
                <a:lnTo>
                  <a:pt x="9401" y="17531"/>
                </a:lnTo>
                <a:lnTo>
                  <a:pt x="10013" y="17837"/>
                </a:lnTo>
                <a:lnTo>
                  <a:pt x="10668" y="18056"/>
                </a:lnTo>
                <a:lnTo>
                  <a:pt x="11324" y="18231"/>
                </a:lnTo>
                <a:lnTo>
                  <a:pt x="12024" y="18318"/>
                </a:lnTo>
                <a:lnTo>
                  <a:pt x="12723" y="18362"/>
                </a:lnTo>
                <a:lnTo>
                  <a:pt x="13467" y="18318"/>
                </a:lnTo>
                <a:lnTo>
                  <a:pt x="14122" y="18231"/>
                </a:lnTo>
                <a:lnTo>
                  <a:pt x="14822" y="18056"/>
                </a:lnTo>
                <a:lnTo>
                  <a:pt x="15434" y="17837"/>
                </a:lnTo>
                <a:lnTo>
                  <a:pt x="16046" y="17531"/>
                </a:lnTo>
                <a:lnTo>
                  <a:pt x="16658" y="17182"/>
                </a:lnTo>
                <a:lnTo>
                  <a:pt x="17183" y="16744"/>
                </a:lnTo>
                <a:lnTo>
                  <a:pt x="17707" y="16264"/>
                </a:lnTo>
                <a:lnTo>
                  <a:pt x="18188" y="15739"/>
                </a:lnTo>
                <a:lnTo>
                  <a:pt x="18625" y="15171"/>
                </a:lnTo>
                <a:lnTo>
                  <a:pt x="18975" y="14602"/>
                </a:lnTo>
                <a:lnTo>
                  <a:pt x="19281" y="13990"/>
                </a:lnTo>
                <a:lnTo>
                  <a:pt x="19500" y="13378"/>
                </a:lnTo>
                <a:lnTo>
                  <a:pt x="19675" y="12679"/>
                </a:lnTo>
                <a:lnTo>
                  <a:pt x="19762" y="11979"/>
                </a:lnTo>
                <a:lnTo>
                  <a:pt x="19806" y="11280"/>
                </a:lnTo>
                <a:lnTo>
                  <a:pt x="16964" y="11280"/>
                </a:lnTo>
                <a:lnTo>
                  <a:pt x="16964" y="11717"/>
                </a:lnTo>
                <a:lnTo>
                  <a:pt x="16877" y="12110"/>
                </a:lnTo>
                <a:lnTo>
                  <a:pt x="16789" y="12547"/>
                </a:lnTo>
                <a:lnTo>
                  <a:pt x="16658" y="12897"/>
                </a:lnTo>
                <a:lnTo>
                  <a:pt x="16483" y="13291"/>
                </a:lnTo>
                <a:lnTo>
                  <a:pt x="16265" y="13640"/>
                </a:lnTo>
                <a:lnTo>
                  <a:pt x="16002" y="13946"/>
                </a:lnTo>
                <a:lnTo>
                  <a:pt x="15740" y="14296"/>
                </a:lnTo>
                <a:lnTo>
                  <a:pt x="15434" y="14558"/>
                </a:lnTo>
                <a:lnTo>
                  <a:pt x="15084" y="14821"/>
                </a:lnTo>
                <a:lnTo>
                  <a:pt x="14734" y="15039"/>
                </a:lnTo>
                <a:lnTo>
                  <a:pt x="14341" y="15214"/>
                </a:lnTo>
                <a:lnTo>
                  <a:pt x="13991" y="15345"/>
                </a:lnTo>
                <a:lnTo>
                  <a:pt x="13598" y="15433"/>
                </a:lnTo>
                <a:lnTo>
                  <a:pt x="13160" y="15520"/>
                </a:lnTo>
                <a:lnTo>
                  <a:pt x="12286" y="15520"/>
                </a:lnTo>
                <a:lnTo>
                  <a:pt x="11893" y="15433"/>
                </a:lnTo>
                <a:lnTo>
                  <a:pt x="11499" y="15345"/>
                </a:lnTo>
                <a:lnTo>
                  <a:pt x="11106" y="15214"/>
                </a:lnTo>
                <a:lnTo>
                  <a:pt x="10712" y="15039"/>
                </a:lnTo>
                <a:lnTo>
                  <a:pt x="10362" y="14821"/>
                </a:lnTo>
                <a:lnTo>
                  <a:pt x="10056" y="14558"/>
                </a:lnTo>
                <a:lnTo>
                  <a:pt x="9707" y="14296"/>
                </a:lnTo>
                <a:lnTo>
                  <a:pt x="9444" y="13946"/>
                </a:lnTo>
                <a:lnTo>
                  <a:pt x="9182" y="13640"/>
                </a:lnTo>
                <a:lnTo>
                  <a:pt x="8963" y="13291"/>
                </a:lnTo>
                <a:lnTo>
                  <a:pt x="8789" y="12897"/>
                </a:lnTo>
                <a:lnTo>
                  <a:pt x="8657" y="12547"/>
                </a:lnTo>
                <a:lnTo>
                  <a:pt x="8570" y="12110"/>
                </a:lnTo>
                <a:lnTo>
                  <a:pt x="8526" y="11717"/>
                </a:lnTo>
                <a:lnTo>
                  <a:pt x="8482" y="11280"/>
                </a:lnTo>
                <a:close/>
                <a:moveTo>
                  <a:pt x="22604" y="9881"/>
                </a:moveTo>
                <a:lnTo>
                  <a:pt x="22604" y="26800"/>
                </a:lnTo>
                <a:lnTo>
                  <a:pt x="2843" y="26800"/>
                </a:lnTo>
                <a:lnTo>
                  <a:pt x="2843" y="9881"/>
                </a:lnTo>
                <a:close/>
                <a:moveTo>
                  <a:pt x="12024" y="0"/>
                </a:moveTo>
                <a:lnTo>
                  <a:pt x="11324" y="131"/>
                </a:lnTo>
                <a:lnTo>
                  <a:pt x="10668" y="262"/>
                </a:lnTo>
                <a:lnTo>
                  <a:pt x="10013" y="481"/>
                </a:lnTo>
                <a:lnTo>
                  <a:pt x="9401" y="787"/>
                </a:lnTo>
                <a:lnTo>
                  <a:pt x="8832" y="1137"/>
                </a:lnTo>
                <a:lnTo>
                  <a:pt x="8264" y="1574"/>
                </a:lnTo>
                <a:lnTo>
                  <a:pt x="7739" y="2055"/>
                </a:lnTo>
                <a:lnTo>
                  <a:pt x="7258" y="2579"/>
                </a:lnTo>
                <a:lnTo>
                  <a:pt x="6821" y="3148"/>
                </a:lnTo>
                <a:lnTo>
                  <a:pt x="6471" y="3716"/>
                </a:lnTo>
                <a:lnTo>
                  <a:pt x="6165" y="4328"/>
                </a:lnTo>
                <a:lnTo>
                  <a:pt x="5947" y="4984"/>
                </a:lnTo>
                <a:lnTo>
                  <a:pt x="5816" y="5640"/>
                </a:lnTo>
                <a:lnTo>
                  <a:pt x="5684" y="6339"/>
                </a:lnTo>
                <a:lnTo>
                  <a:pt x="5684" y="7039"/>
                </a:lnTo>
                <a:lnTo>
                  <a:pt x="2537" y="7039"/>
                </a:lnTo>
                <a:lnTo>
                  <a:pt x="2274" y="7083"/>
                </a:lnTo>
                <a:lnTo>
                  <a:pt x="2012" y="7170"/>
                </a:lnTo>
                <a:lnTo>
                  <a:pt x="1750" y="7257"/>
                </a:lnTo>
                <a:lnTo>
                  <a:pt x="1531" y="7389"/>
                </a:lnTo>
                <a:lnTo>
                  <a:pt x="1269" y="7520"/>
                </a:lnTo>
                <a:lnTo>
                  <a:pt x="1050" y="7695"/>
                </a:lnTo>
                <a:lnTo>
                  <a:pt x="832" y="7869"/>
                </a:lnTo>
                <a:lnTo>
                  <a:pt x="657" y="8088"/>
                </a:lnTo>
                <a:lnTo>
                  <a:pt x="482" y="8307"/>
                </a:lnTo>
                <a:lnTo>
                  <a:pt x="351" y="8525"/>
                </a:lnTo>
                <a:lnTo>
                  <a:pt x="220" y="8788"/>
                </a:lnTo>
                <a:lnTo>
                  <a:pt x="132" y="9050"/>
                </a:lnTo>
                <a:lnTo>
                  <a:pt x="88" y="9312"/>
                </a:lnTo>
                <a:lnTo>
                  <a:pt x="45" y="9575"/>
                </a:lnTo>
                <a:lnTo>
                  <a:pt x="1" y="9881"/>
                </a:lnTo>
                <a:lnTo>
                  <a:pt x="1" y="26800"/>
                </a:lnTo>
                <a:lnTo>
                  <a:pt x="45" y="27106"/>
                </a:lnTo>
                <a:lnTo>
                  <a:pt x="88" y="27368"/>
                </a:lnTo>
                <a:lnTo>
                  <a:pt x="132" y="27631"/>
                </a:lnTo>
                <a:lnTo>
                  <a:pt x="220" y="27893"/>
                </a:lnTo>
                <a:lnTo>
                  <a:pt x="351" y="28155"/>
                </a:lnTo>
                <a:lnTo>
                  <a:pt x="482" y="28374"/>
                </a:lnTo>
                <a:lnTo>
                  <a:pt x="657" y="28592"/>
                </a:lnTo>
                <a:lnTo>
                  <a:pt x="832" y="28811"/>
                </a:lnTo>
                <a:lnTo>
                  <a:pt x="1050" y="29030"/>
                </a:lnTo>
                <a:lnTo>
                  <a:pt x="1269" y="29161"/>
                </a:lnTo>
                <a:lnTo>
                  <a:pt x="1531" y="29336"/>
                </a:lnTo>
                <a:lnTo>
                  <a:pt x="1750" y="29423"/>
                </a:lnTo>
                <a:lnTo>
                  <a:pt x="2012" y="29510"/>
                </a:lnTo>
                <a:lnTo>
                  <a:pt x="2274" y="29598"/>
                </a:lnTo>
                <a:lnTo>
                  <a:pt x="2537" y="29642"/>
                </a:lnTo>
                <a:lnTo>
                  <a:pt x="22910" y="29642"/>
                </a:lnTo>
                <a:lnTo>
                  <a:pt x="23172" y="29598"/>
                </a:lnTo>
                <a:lnTo>
                  <a:pt x="23435" y="29510"/>
                </a:lnTo>
                <a:lnTo>
                  <a:pt x="23697" y="29423"/>
                </a:lnTo>
                <a:lnTo>
                  <a:pt x="23959" y="29336"/>
                </a:lnTo>
                <a:lnTo>
                  <a:pt x="24178" y="29161"/>
                </a:lnTo>
                <a:lnTo>
                  <a:pt x="24396" y="29030"/>
                </a:lnTo>
                <a:lnTo>
                  <a:pt x="24615" y="28811"/>
                </a:lnTo>
                <a:lnTo>
                  <a:pt x="24790" y="28592"/>
                </a:lnTo>
                <a:lnTo>
                  <a:pt x="24965" y="28374"/>
                </a:lnTo>
                <a:lnTo>
                  <a:pt x="25096" y="28155"/>
                </a:lnTo>
                <a:lnTo>
                  <a:pt x="25227" y="27893"/>
                </a:lnTo>
                <a:lnTo>
                  <a:pt x="25314" y="27631"/>
                </a:lnTo>
                <a:lnTo>
                  <a:pt x="25402" y="27368"/>
                </a:lnTo>
                <a:lnTo>
                  <a:pt x="25446" y="27106"/>
                </a:lnTo>
                <a:lnTo>
                  <a:pt x="25446" y="26800"/>
                </a:lnTo>
                <a:lnTo>
                  <a:pt x="25446" y="9881"/>
                </a:lnTo>
                <a:lnTo>
                  <a:pt x="25446" y="9575"/>
                </a:lnTo>
                <a:lnTo>
                  <a:pt x="25402" y="9312"/>
                </a:lnTo>
                <a:lnTo>
                  <a:pt x="25314" y="9050"/>
                </a:lnTo>
                <a:lnTo>
                  <a:pt x="25227" y="8788"/>
                </a:lnTo>
                <a:lnTo>
                  <a:pt x="25096" y="8525"/>
                </a:lnTo>
                <a:lnTo>
                  <a:pt x="24965" y="8307"/>
                </a:lnTo>
                <a:lnTo>
                  <a:pt x="24790" y="8088"/>
                </a:lnTo>
                <a:lnTo>
                  <a:pt x="24615" y="7869"/>
                </a:lnTo>
                <a:lnTo>
                  <a:pt x="24396" y="7695"/>
                </a:lnTo>
                <a:lnTo>
                  <a:pt x="24178" y="7520"/>
                </a:lnTo>
                <a:lnTo>
                  <a:pt x="23959" y="7389"/>
                </a:lnTo>
                <a:lnTo>
                  <a:pt x="23697" y="7257"/>
                </a:lnTo>
                <a:lnTo>
                  <a:pt x="23435" y="7170"/>
                </a:lnTo>
                <a:lnTo>
                  <a:pt x="23172" y="7083"/>
                </a:lnTo>
                <a:lnTo>
                  <a:pt x="22910" y="7039"/>
                </a:lnTo>
                <a:lnTo>
                  <a:pt x="19806" y="7039"/>
                </a:lnTo>
                <a:lnTo>
                  <a:pt x="19762" y="6339"/>
                </a:lnTo>
                <a:lnTo>
                  <a:pt x="19675" y="5640"/>
                </a:lnTo>
                <a:lnTo>
                  <a:pt x="19500" y="4984"/>
                </a:lnTo>
                <a:lnTo>
                  <a:pt x="19281" y="4328"/>
                </a:lnTo>
                <a:lnTo>
                  <a:pt x="18975" y="3716"/>
                </a:lnTo>
                <a:lnTo>
                  <a:pt x="18625" y="3148"/>
                </a:lnTo>
                <a:lnTo>
                  <a:pt x="18188" y="2579"/>
                </a:lnTo>
                <a:lnTo>
                  <a:pt x="17707" y="2055"/>
                </a:lnTo>
                <a:lnTo>
                  <a:pt x="17183" y="1574"/>
                </a:lnTo>
                <a:lnTo>
                  <a:pt x="16658" y="1137"/>
                </a:lnTo>
                <a:lnTo>
                  <a:pt x="16046" y="787"/>
                </a:lnTo>
                <a:lnTo>
                  <a:pt x="15434" y="481"/>
                </a:lnTo>
                <a:lnTo>
                  <a:pt x="14822" y="262"/>
                </a:lnTo>
                <a:lnTo>
                  <a:pt x="14122" y="131"/>
                </a:lnTo>
                <a:lnTo>
                  <a:pt x="134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descr="An abstract texture of raised wave shapes on a white surface. " id="421" name="Google Shape;421;p50"/>
          <p:cNvPicPr preferRelativeResize="0"/>
          <p:nvPr/>
        </p:nvPicPr>
        <p:blipFill rotWithShape="1">
          <a:blip r:embed="rId3">
            <a:alphaModFix amt="50000"/>
          </a:blip>
          <a:srcRect b="0" l="23649" r="43594" t="21820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22" name="Google Shape;422;p50"/>
          <p:cNvSpPr txBox="1"/>
          <p:nvPr/>
        </p:nvSpPr>
        <p:spPr>
          <a:xfrm>
            <a:off x="1008000" y="3111325"/>
            <a:ext cx="15738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Yike Meng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Qiancheng Ye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Joe Wang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Athena Huang </a:t>
            </a:r>
            <a:endParaRPr sz="13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</a:rPr>
              <a:t>Yuting Du</a:t>
            </a:r>
            <a:endParaRPr sz="17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3" name="Google Shape;423;p50"/>
          <p:cNvSpPr txBox="1"/>
          <p:nvPr/>
        </p:nvSpPr>
        <p:spPr>
          <a:xfrm>
            <a:off x="3178225" y="4286675"/>
            <a:ext cx="1845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rPr>
              <a:t>Group #5</a:t>
            </a:r>
            <a:endParaRPr sz="15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D3D3D"/>
                </a:solidFill>
                <a:latin typeface="Outfit"/>
                <a:ea typeface="Outfit"/>
                <a:cs typeface="Outfit"/>
                <a:sym typeface="Outfit"/>
              </a:rPr>
              <a:t>Date: 12/01/2025</a:t>
            </a:r>
            <a:endParaRPr sz="1500">
              <a:solidFill>
                <a:srgbClr val="3D3D3D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3950" y="-193875"/>
            <a:ext cx="2721600" cy="20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1"/>
          <p:cNvSpPr/>
          <p:nvPr/>
        </p:nvSpPr>
        <p:spPr>
          <a:xfrm>
            <a:off x="701474" y="1727675"/>
            <a:ext cx="2721600" cy="3109200"/>
          </a:xfrm>
          <a:prstGeom prst="roundRect">
            <a:avLst>
              <a:gd fmla="val 11013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4"/>
              <a:t>Build an integrated platform that captures and visualizes </a:t>
            </a:r>
            <a:r>
              <a:rPr b="1" lang="en" sz="1234"/>
              <a:t>market sentiment</a:t>
            </a:r>
            <a:r>
              <a:rPr lang="en" sz="1234"/>
              <a:t> derived from large volumes of </a:t>
            </a:r>
            <a:r>
              <a:rPr b="1" lang="en" sz="1234"/>
              <a:t>financial news</a:t>
            </a:r>
            <a:r>
              <a:rPr lang="en" sz="1234"/>
              <a:t> of the </a:t>
            </a:r>
            <a:r>
              <a:rPr lang="en" sz="1234"/>
              <a:t>Magnificent</a:t>
            </a:r>
            <a:r>
              <a:rPr lang="en" sz="1234"/>
              <a:t> 7 stocks.</a:t>
            </a:r>
            <a:br>
              <a:rPr lang="en" sz="1234"/>
            </a:br>
            <a:endParaRPr sz="1234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4"/>
              <a:t>Enable users to view daily sentiment, trends, and sector-level summaries through a </a:t>
            </a:r>
            <a:r>
              <a:rPr b="1" lang="en" sz="1234"/>
              <a:t>front-end dashboard</a:t>
            </a:r>
            <a:r>
              <a:rPr lang="en" sz="1234"/>
              <a:t>.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6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0" name="Google Shape;430;p51"/>
          <p:cNvSpPr/>
          <p:nvPr/>
        </p:nvSpPr>
        <p:spPr>
          <a:xfrm>
            <a:off x="3423406" y="1727675"/>
            <a:ext cx="2721600" cy="3109200"/>
          </a:xfrm>
          <a:prstGeom prst="roundRect">
            <a:avLst>
              <a:gd fmla="val 11013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b="1" lang="en" sz="1111"/>
              <a:t>Data Sources: </a:t>
            </a:r>
            <a:r>
              <a:rPr lang="en" sz="1111"/>
              <a:t>APIs provide raw news articles in JSON format.</a:t>
            </a:r>
            <a:endParaRPr sz="1111"/>
          </a:p>
          <a:p>
            <a:pPr indent="0" lvl="0" marL="0" rtl="0" algn="l">
              <a:spcBef>
                <a:spcPts val="445"/>
              </a:spcBef>
              <a:spcAft>
                <a:spcPts val="0"/>
              </a:spcAft>
              <a:buNone/>
            </a:pPr>
            <a:r>
              <a:rPr b="1" lang="en" sz="1111"/>
              <a:t>ETL: </a:t>
            </a:r>
            <a:r>
              <a:rPr lang="en" sz="1111"/>
              <a:t>Clean, parse, and standardize fields; compute sentiment scores.</a:t>
            </a:r>
            <a:endParaRPr sz="11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1"/>
              <a:t>Storage:</a:t>
            </a:r>
            <a:r>
              <a:rPr lang="en" sz="1111"/>
              <a:t> Store raw data in MongoDB and export cleaned data to CSV/JSON files.</a:t>
            </a:r>
            <a:endParaRPr sz="11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1"/>
              <a:t>Analytics:</a:t>
            </a:r>
            <a:r>
              <a:rPr lang="en" sz="1111"/>
              <a:t> Generate time-series metrics and visualizate sentiment trends </a:t>
            </a:r>
            <a:endParaRPr sz="1111"/>
          </a:p>
        </p:txBody>
      </p:sp>
      <p:sp>
        <p:nvSpPr>
          <p:cNvPr id="431" name="Google Shape;431;p51"/>
          <p:cNvSpPr/>
          <p:nvPr/>
        </p:nvSpPr>
        <p:spPr>
          <a:xfrm>
            <a:off x="6145337" y="1727675"/>
            <a:ext cx="2721600" cy="3109200"/>
          </a:xfrm>
          <a:prstGeom prst="roundRect">
            <a:avLst>
              <a:gd fmla="val 1101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01625" lIns="101625" spcFirstLastPara="1" rIns="101625" wrap="square" tIns="101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b="1" lang="en" sz="1100"/>
              <a:t>Scrapy Framework:</a:t>
            </a:r>
            <a:r>
              <a:rPr lang="en" sz="1100"/>
              <a:t>Web scraping for financial news data collection when API sources insufficient.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b="1" lang="en" sz="1100"/>
              <a:t>VADER Sentiment Analyzer: </a:t>
            </a:r>
            <a:r>
              <a:rPr lang="en" sz="1100"/>
              <a:t>Generate sentiment scores from article text.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b="1" lang="en" sz="1100"/>
              <a:t>MongoDB: </a:t>
            </a:r>
            <a:r>
              <a:rPr lang="en" sz="1100"/>
              <a:t>Store raw JSON data and aggregated sentiment metrics.</a:t>
            </a:r>
            <a:endParaRPr sz="1100"/>
          </a:p>
          <a:p>
            <a:pPr indent="0" lvl="0" marL="0" rtl="0" algn="l">
              <a:spcBef>
                <a:spcPts val="2001"/>
              </a:spcBef>
              <a:spcAft>
                <a:spcPts val="445"/>
              </a:spcAft>
              <a:buNone/>
            </a:pPr>
            <a:r>
              <a:rPr b="1" lang="en" sz="1100"/>
              <a:t>Flask: </a:t>
            </a:r>
            <a:r>
              <a:rPr lang="en" sz="1100"/>
              <a:t>powers REST APIs that deliver sentiment to the dashboard</a:t>
            </a:r>
            <a:endParaRPr sz="1100"/>
          </a:p>
        </p:txBody>
      </p:sp>
      <p:sp>
        <p:nvSpPr>
          <p:cNvPr id="432" name="Google Shape;432;p51"/>
          <p:cNvSpPr txBox="1"/>
          <p:nvPr>
            <p:ph type="title"/>
          </p:nvPr>
        </p:nvSpPr>
        <p:spPr>
          <a:xfrm>
            <a:off x="1008000" y="282900"/>
            <a:ext cx="4965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Design</a:t>
            </a:r>
            <a:endParaRPr/>
          </a:p>
        </p:txBody>
      </p:sp>
      <p:sp>
        <p:nvSpPr>
          <p:cNvPr id="433" name="Google Shape;433;p51"/>
          <p:cNvSpPr txBox="1"/>
          <p:nvPr>
            <p:ph idx="3" type="subTitle"/>
          </p:nvPr>
        </p:nvSpPr>
        <p:spPr>
          <a:xfrm>
            <a:off x="3634188" y="1886825"/>
            <a:ext cx="17253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Data Pipeline</a:t>
            </a:r>
            <a:endParaRPr/>
          </a:p>
        </p:txBody>
      </p:sp>
      <p:sp>
        <p:nvSpPr>
          <p:cNvPr id="434" name="Google Shape;434;p51"/>
          <p:cNvSpPr txBox="1"/>
          <p:nvPr>
            <p:ph idx="4" type="subTitle"/>
          </p:nvPr>
        </p:nvSpPr>
        <p:spPr>
          <a:xfrm>
            <a:off x="6341350" y="1886825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Technologies</a:t>
            </a:r>
            <a:endParaRPr/>
          </a:p>
        </p:txBody>
      </p:sp>
      <p:sp>
        <p:nvSpPr>
          <p:cNvPr id="435" name="Google Shape;435;p51"/>
          <p:cNvSpPr txBox="1"/>
          <p:nvPr>
            <p:ph idx="2" type="subTitle"/>
          </p:nvPr>
        </p:nvSpPr>
        <p:spPr>
          <a:xfrm>
            <a:off x="901825" y="1886825"/>
            <a:ext cx="1468500" cy="33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Project Vision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"/>
          <p:cNvSpPr txBox="1"/>
          <p:nvPr>
            <p:ph type="title"/>
          </p:nvPr>
        </p:nvSpPr>
        <p:spPr>
          <a:xfrm>
            <a:off x="231300" y="95700"/>
            <a:ext cx="8432700" cy="21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1" sz="2800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–Why Build a Company News ETL Pipeline</a:t>
            </a:r>
            <a:endParaRPr b="1" sz="1400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2"/>
          <p:cNvSpPr txBox="1"/>
          <p:nvPr/>
        </p:nvSpPr>
        <p:spPr>
          <a:xfrm>
            <a:off x="178150" y="1377705"/>
            <a:ext cx="2893500" cy="3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1. News is a Primary Driver of Market Movements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Corporate news influences investor expectations, sentiment, and stock price volatility.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Earnings releases, product launches, regulatory events, and executive changes all originate from the news cycle.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Modern financial models increasingly incorporate real-time news streams as predictive signals.</a:t>
            </a: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42" name="Google Shape;44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450" y="49975"/>
            <a:ext cx="4349559" cy="121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2"/>
          <p:cNvSpPr txBox="1"/>
          <p:nvPr/>
        </p:nvSpPr>
        <p:spPr>
          <a:xfrm>
            <a:off x="3124900" y="1377705"/>
            <a:ext cx="3000000" cy="3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2. News Data Exhibits Strong “Big Data” Characteristics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volume: thousands of articles generated daily across companies and sectors.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velocity: markets react within minutes of breaking news.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variety: unstructured text, inconsistent formats, multilingual sources.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Requires scalable ETL pipelines to ingest, clean, and structure the data.</a:t>
            </a:r>
            <a:endParaRPr sz="1100"/>
          </a:p>
        </p:txBody>
      </p:sp>
      <p:sp>
        <p:nvSpPr>
          <p:cNvPr id="444" name="Google Shape;444;p52"/>
          <p:cNvSpPr txBox="1"/>
          <p:nvPr/>
        </p:nvSpPr>
        <p:spPr>
          <a:xfrm>
            <a:off x="6018550" y="1377705"/>
            <a:ext cx="3000000" cy="3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3. Clear Business Value for Analytics and Decision-Making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Market intelligence:</a:t>
            </a:r>
            <a:r>
              <a:rPr lang="en" sz="1100"/>
              <a:t> track competitor and industry developments.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Sentiment monitoring:</a:t>
            </a:r>
            <a:r>
              <a:rPr lang="en" sz="1100"/>
              <a:t> detect early signs of risk or opportunities.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Investment research:</a:t>
            </a:r>
            <a:r>
              <a:rPr lang="en" sz="1100"/>
              <a:t> combine news sentiment with market data for richer insights.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Operational efficiency:</a:t>
            </a:r>
            <a:r>
              <a:rPr lang="en" sz="1100"/>
              <a:t> automated retrieval avoids manual monitoring across dozens of sources.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3"/>
          <p:cNvSpPr txBox="1"/>
          <p:nvPr>
            <p:ph type="title"/>
          </p:nvPr>
        </p:nvSpPr>
        <p:spPr>
          <a:xfrm>
            <a:off x="231300" y="256500"/>
            <a:ext cx="8432700" cy="18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API-Based News Scraper</a:t>
            </a:r>
            <a:endParaRPr b="1" sz="2600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3"/>
          <p:cNvSpPr txBox="1"/>
          <p:nvPr/>
        </p:nvSpPr>
        <p:spPr>
          <a:xfrm>
            <a:off x="111475" y="949075"/>
            <a:ext cx="2641500" cy="4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   Data Source &amp; Scope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Targeted </a:t>
            </a:r>
            <a:r>
              <a:rPr b="1" lang="en" sz="1200"/>
              <a:t>M7 companies</a:t>
            </a:r>
            <a:r>
              <a:rPr lang="en" sz="1200"/>
              <a:t>: 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Apple, Microsoft, Amazon, Alphabet, Meta,             Tesla, NVIDIA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Time range: 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Jan 1, 2024 – Nov 24, 2025</a:t>
            </a:r>
            <a:r>
              <a:rPr lang="en" sz="1200"/>
              <a:t>.</a:t>
            </a:r>
            <a:endParaRPr sz="12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200"/>
              <a:t>Language: </a:t>
            </a:r>
            <a:r>
              <a:rPr b="1" lang="en" sz="1200"/>
              <a:t>English-only</a:t>
            </a:r>
            <a:br>
              <a:rPr b="1" lang="en" sz="1100"/>
            </a:br>
            <a:br>
              <a:rPr lang="en" sz="1100"/>
            </a:br>
            <a:br>
              <a:rPr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51" name="Google Shape;4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877" y="1392280"/>
            <a:ext cx="950019" cy="30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3"/>
          <p:cNvPicPr preferRelativeResize="0"/>
          <p:nvPr/>
        </p:nvPicPr>
        <p:blipFill rotWithShape="1">
          <a:blip r:embed="rId4">
            <a:alphaModFix/>
          </a:blip>
          <a:srcRect b="0" l="0" r="7757" t="0"/>
          <a:stretch/>
        </p:blipFill>
        <p:spPr>
          <a:xfrm>
            <a:off x="5657850" y="872075"/>
            <a:ext cx="3311699" cy="3289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3" name="Google Shape;453;p53"/>
          <p:cNvGraphicFramePr/>
          <p:nvPr/>
        </p:nvGraphicFramePr>
        <p:xfrm>
          <a:off x="2854363" y="15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{C404C9F4-EA30-433D-9D6C-0B40C501D035}</a:tableStyleId>
              </a:tblPr>
              <a:tblGrid>
                <a:gridCol w="1017650"/>
                <a:gridCol w="1700100"/>
              </a:tblGrid>
              <a:tr h="259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Field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title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News headline</a:t>
                      </a:r>
                      <a:endParaRPr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Short summary </a:t>
                      </a:r>
                      <a:endParaRPr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content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Main text snippet</a:t>
                      </a:r>
                      <a:endParaRPr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published_at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Publication timestamp</a:t>
                      </a:r>
                      <a:endParaRPr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source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</a:t>
                      </a:r>
                      <a:r>
                        <a:rPr lang="en" sz="1100"/>
                        <a:t>ublisher</a:t>
                      </a:r>
                      <a:endParaRPr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3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company</a:t>
                      </a:r>
                      <a:endParaRPr b="1"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Magnificent 7</a:t>
                      </a:r>
                      <a:endParaRPr sz="1100"/>
                    </a:p>
                  </a:txBody>
                  <a:tcPr marT="91425" marB="91425" marR="47625" marL="47625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4" name="Google Shape;454;p53"/>
          <p:cNvSpPr txBox="1"/>
          <p:nvPr/>
        </p:nvSpPr>
        <p:spPr>
          <a:xfrm>
            <a:off x="2791200" y="949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Fields Extracted</a:t>
            </a:r>
            <a:endParaRPr b="1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4"/>
          <p:cNvSpPr txBox="1"/>
          <p:nvPr>
            <p:ph type="title"/>
          </p:nvPr>
        </p:nvSpPr>
        <p:spPr>
          <a:xfrm>
            <a:off x="231300" y="95700"/>
            <a:ext cx="7851300" cy="20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86AB"/>
                </a:solidFill>
                <a:latin typeface="Arial"/>
                <a:ea typeface="Arial"/>
                <a:cs typeface="Arial"/>
                <a:sym typeface="Arial"/>
              </a:rPr>
              <a:t>Data Processing Pipeline</a:t>
            </a:r>
            <a:endParaRPr b="1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From 1.5GB Raw Data to High-Quality Sentiment Analysis Dataset</a:t>
            </a:r>
            <a:endParaRPr sz="1400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E86A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300" y="3919200"/>
            <a:ext cx="8839197" cy="421562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54"/>
          <p:cNvSpPr/>
          <p:nvPr/>
        </p:nvSpPr>
        <p:spPr>
          <a:xfrm>
            <a:off x="436800" y="4439275"/>
            <a:ext cx="1577700" cy="421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2" name="Google Shape;462;p54"/>
          <p:cNvSpPr txBox="1"/>
          <p:nvPr/>
        </p:nvSpPr>
        <p:spPr>
          <a:xfrm>
            <a:off x="519100" y="4457850"/>
            <a:ext cx="12123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</a:t>
            </a:r>
            <a:r>
              <a:rPr b="1" lang="en" sz="1800">
                <a:solidFill>
                  <a:srgbClr val="FF9900"/>
                </a:solidFill>
                <a:latin typeface="Impact"/>
                <a:ea typeface="Impact"/>
                <a:cs typeface="Impact"/>
                <a:sym typeface="Impact"/>
              </a:rPr>
              <a:t>      50%</a:t>
            </a:r>
            <a:endParaRPr b="1" sz="1800">
              <a:solidFill>
                <a:srgbClr val="FF99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63" name="Google Shape;463;p54"/>
          <p:cNvSpPr txBox="1"/>
          <p:nvPr/>
        </p:nvSpPr>
        <p:spPr>
          <a:xfrm>
            <a:off x="436800" y="4778850"/>
            <a:ext cx="21702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Filtered low quality data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4" name="Google Shape;464;p54"/>
          <p:cNvSpPr txBox="1"/>
          <p:nvPr/>
        </p:nvSpPr>
        <p:spPr>
          <a:xfrm>
            <a:off x="592800" y="4143550"/>
            <a:ext cx="1265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improvement</a:t>
            </a:r>
            <a:endParaRPr b="1"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5" name="Google Shape;465;p54"/>
          <p:cNvSpPr/>
          <p:nvPr/>
        </p:nvSpPr>
        <p:spPr>
          <a:xfrm>
            <a:off x="2701875" y="4430750"/>
            <a:ext cx="1577700" cy="421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6" name="Google Shape;466;p54"/>
          <p:cNvSpPr txBox="1"/>
          <p:nvPr/>
        </p:nvSpPr>
        <p:spPr>
          <a:xfrm>
            <a:off x="2784175" y="4449325"/>
            <a:ext cx="12123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</a:t>
            </a:r>
            <a:r>
              <a:rPr b="1" lang="en" sz="1800">
                <a:solidFill>
                  <a:srgbClr val="FF9900"/>
                </a:solidFill>
                <a:latin typeface="Impact"/>
                <a:ea typeface="Impact"/>
                <a:cs typeface="Impact"/>
                <a:sym typeface="Impact"/>
              </a:rPr>
              <a:t>      </a:t>
            </a:r>
            <a:r>
              <a:rPr b="1" lang="en" sz="1800">
                <a:solidFill>
                  <a:schemeClr val="accent5"/>
                </a:solidFill>
                <a:latin typeface="Impact"/>
                <a:ea typeface="Impact"/>
                <a:cs typeface="Impact"/>
                <a:sym typeface="Impact"/>
              </a:rPr>
              <a:t>100%</a:t>
            </a:r>
            <a:endParaRPr b="1" sz="1800">
              <a:solidFill>
                <a:schemeClr val="accent5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67" name="Google Shape;467;p54"/>
          <p:cNvSpPr txBox="1"/>
          <p:nvPr/>
        </p:nvSpPr>
        <p:spPr>
          <a:xfrm>
            <a:off x="3013875" y="4180250"/>
            <a:ext cx="1265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Uniqueness</a:t>
            </a:r>
            <a:endParaRPr b="1"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68" name="Google Shape;468;p54"/>
          <p:cNvSpPr txBox="1"/>
          <p:nvPr/>
        </p:nvSpPr>
        <p:spPr>
          <a:xfrm>
            <a:off x="3013875" y="4778850"/>
            <a:ext cx="13545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duplicates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69" name="Google Shape;46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1825" y="971650"/>
            <a:ext cx="5436275" cy="31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4"/>
          <p:cNvSpPr/>
          <p:nvPr/>
        </p:nvSpPr>
        <p:spPr>
          <a:xfrm>
            <a:off x="4954600" y="4439275"/>
            <a:ext cx="1577700" cy="4215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1" name="Google Shape;471;p54"/>
          <p:cNvSpPr txBox="1"/>
          <p:nvPr/>
        </p:nvSpPr>
        <p:spPr>
          <a:xfrm>
            <a:off x="4966950" y="4457850"/>
            <a:ext cx="12123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</a:t>
            </a:r>
            <a:r>
              <a:rPr b="1" lang="en" sz="1800">
                <a:solidFill>
                  <a:srgbClr val="FF9900"/>
                </a:solidFill>
                <a:latin typeface="Impact"/>
                <a:ea typeface="Impact"/>
                <a:cs typeface="Impact"/>
                <a:sym typeface="Impact"/>
              </a:rPr>
              <a:t>    </a:t>
            </a:r>
            <a:r>
              <a:rPr b="1" lang="en" sz="1800">
                <a:solidFill>
                  <a:srgbClr val="2E86AB"/>
                </a:solidFill>
                <a:latin typeface="Impact"/>
                <a:ea typeface="Impact"/>
                <a:cs typeface="Impact"/>
                <a:sym typeface="Impact"/>
              </a:rPr>
              <a:t>  95%</a:t>
            </a:r>
            <a:endParaRPr b="1" sz="1800">
              <a:solidFill>
                <a:srgbClr val="2E86AB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72" name="Google Shape;472;p54"/>
          <p:cNvSpPr/>
          <p:nvPr/>
        </p:nvSpPr>
        <p:spPr>
          <a:xfrm>
            <a:off x="7036225" y="4439275"/>
            <a:ext cx="1577700" cy="421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3" name="Google Shape;473;p54"/>
          <p:cNvSpPr txBox="1"/>
          <p:nvPr/>
        </p:nvSpPr>
        <p:spPr>
          <a:xfrm>
            <a:off x="7091775" y="4449325"/>
            <a:ext cx="12123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A64D79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</a:t>
            </a:r>
            <a:r>
              <a:rPr b="1" lang="en" sz="1800">
                <a:solidFill>
                  <a:srgbClr val="A64D79"/>
                </a:solidFill>
                <a:latin typeface="Impact"/>
                <a:ea typeface="Impact"/>
                <a:cs typeface="Impact"/>
                <a:sym typeface="Impact"/>
              </a:rPr>
              <a:t>      250K</a:t>
            </a:r>
            <a:endParaRPr b="1" sz="1800">
              <a:solidFill>
                <a:srgbClr val="A64D79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A64D79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74" name="Google Shape;474;p54"/>
          <p:cNvSpPr txBox="1"/>
          <p:nvPr/>
        </p:nvSpPr>
        <p:spPr>
          <a:xfrm>
            <a:off x="5194425" y="4180250"/>
            <a:ext cx="1265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Accuracy</a:t>
            </a:r>
            <a:endParaRPr b="1"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5" name="Google Shape;475;p54"/>
          <p:cNvSpPr txBox="1"/>
          <p:nvPr/>
        </p:nvSpPr>
        <p:spPr>
          <a:xfrm>
            <a:off x="7374975" y="4143550"/>
            <a:ext cx="1265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Articles</a:t>
            </a:r>
            <a:endParaRPr b="1"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6" name="Google Shape;476;p54"/>
          <p:cNvSpPr txBox="1"/>
          <p:nvPr/>
        </p:nvSpPr>
        <p:spPr>
          <a:xfrm>
            <a:off x="5052825" y="4778850"/>
            <a:ext cx="13545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matched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77" name="Google Shape;477;p54"/>
          <p:cNvSpPr txBox="1"/>
          <p:nvPr/>
        </p:nvSpPr>
        <p:spPr>
          <a:xfrm>
            <a:off x="7118525" y="4778850"/>
            <a:ext cx="13545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 quality dataset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78" name="Google Shape;47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578" y="1037400"/>
            <a:ext cx="3198247" cy="29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/>
          <p:nvPr/>
        </p:nvSpPr>
        <p:spPr>
          <a:xfrm>
            <a:off x="61725" y="576000"/>
            <a:ext cx="4786200" cy="1307700"/>
          </a:xfrm>
          <a:prstGeom prst="roundRect">
            <a:avLst>
              <a:gd fmla="val 891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4" name="Google Shape;484;p55"/>
          <p:cNvSpPr/>
          <p:nvPr/>
        </p:nvSpPr>
        <p:spPr>
          <a:xfrm flipH="1">
            <a:off x="5086500" y="213150"/>
            <a:ext cx="3726000" cy="1777500"/>
          </a:xfrm>
          <a:prstGeom prst="round2DiagRect">
            <a:avLst>
              <a:gd fmla="val 21928" name="adj1"/>
              <a:gd fmla="val 833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80775" lIns="80775" spcFirstLastPara="1" rIns="80775" wrap="square" tIns="80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6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85" name="Google Shape;485;p55"/>
          <p:cNvSpPr txBox="1"/>
          <p:nvPr>
            <p:ph idx="4" type="title"/>
          </p:nvPr>
        </p:nvSpPr>
        <p:spPr>
          <a:xfrm>
            <a:off x="108250" y="684900"/>
            <a:ext cx="4495500" cy="1089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/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Applied</a:t>
            </a:r>
            <a:r>
              <a:rPr b="1" lang="en" sz="1200"/>
              <a:t> VADER </a:t>
            </a:r>
            <a:r>
              <a:rPr lang="en" sz="1200"/>
              <a:t>sentiment analysis from </a:t>
            </a:r>
            <a:r>
              <a:rPr b="1" lang="en" sz="1200"/>
              <a:t>NLTK</a:t>
            </a:r>
            <a:endParaRPr b="1" sz="12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Generated </a:t>
            </a:r>
            <a:r>
              <a:rPr b="1" lang="en" sz="1200"/>
              <a:t>compound sentiment scores </a:t>
            </a:r>
            <a:r>
              <a:rPr lang="en" sz="1200"/>
              <a:t>(range: –1 to +1) for each article</a:t>
            </a:r>
            <a:endParaRPr sz="12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Calculated overall mean sentiment to understand the dataset’s general emotional direction</a:t>
            </a:r>
            <a:endParaRPr sz="1200"/>
          </a:p>
        </p:txBody>
      </p:sp>
      <p:sp>
        <p:nvSpPr>
          <p:cNvPr id="486" name="Google Shape;486;p55"/>
          <p:cNvSpPr txBox="1"/>
          <p:nvPr>
            <p:ph idx="6" type="title"/>
          </p:nvPr>
        </p:nvSpPr>
        <p:spPr>
          <a:xfrm>
            <a:off x="5086489" y="282907"/>
            <a:ext cx="1602300" cy="417000"/>
          </a:xfrm>
          <a:prstGeom prst="rect">
            <a:avLst/>
          </a:prstGeom>
        </p:spPr>
        <p:txBody>
          <a:bodyPr anchorCtr="0" anchor="t" bIns="83400" lIns="83400" spcFirstLastPara="1" rIns="83400" wrap="square" tIns="8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/>
              <a:t>Why NLTK (VADER)?</a:t>
            </a:r>
            <a:endParaRPr sz="100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3"/>
          </a:p>
        </p:txBody>
      </p:sp>
      <p:sp>
        <p:nvSpPr>
          <p:cNvPr id="487" name="Google Shape;487;p55"/>
          <p:cNvSpPr txBox="1"/>
          <p:nvPr>
            <p:ph idx="7" type="body"/>
          </p:nvPr>
        </p:nvSpPr>
        <p:spPr>
          <a:xfrm>
            <a:off x="5551175" y="567900"/>
            <a:ext cx="3447000" cy="1239000"/>
          </a:xfrm>
          <a:prstGeom prst="rect">
            <a:avLst/>
          </a:prstGeom>
        </p:spPr>
        <p:txBody>
          <a:bodyPr anchorCtr="0" anchor="t" bIns="80775" lIns="80775" spcFirstLastPara="1" rIns="80775" wrap="square" tIns="80775">
            <a:noAutofit/>
          </a:bodyPr>
          <a:lstStyle/>
          <a:p>
            <a:pPr indent="-144513" lvl="0" marL="161557" rtl="0" algn="l">
              <a:spcBef>
                <a:spcPts val="0"/>
              </a:spcBef>
              <a:spcAft>
                <a:spcPts val="0"/>
              </a:spcAft>
              <a:buSzPts val="1004"/>
              <a:buChar char="→"/>
            </a:pPr>
            <a:r>
              <a:rPr lang="en" sz="1003"/>
              <a:t>Easy to implement and requires</a:t>
            </a:r>
            <a:r>
              <a:rPr b="1" lang="en" sz="1003"/>
              <a:t> no training.</a:t>
            </a:r>
            <a:endParaRPr b="1" sz="1003"/>
          </a:p>
          <a:p>
            <a:pPr indent="0" lvl="0" marL="40389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3"/>
          </a:p>
          <a:p>
            <a:pPr indent="-144513" lvl="0" marL="161557" rtl="0" algn="l">
              <a:spcBef>
                <a:spcPts val="0"/>
              </a:spcBef>
              <a:spcAft>
                <a:spcPts val="0"/>
              </a:spcAft>
              <a:buSzPts val="1004"/>
              <a:buChar char="→"/>
            </a:pPr>
            <a:r>
              <a:rPr lang="en" sz="1003"/>
              <a:t>VADER is perfect for</a:t>
            </a:r>
            <a:r>
              <a:rPr b="1" lang="en" sz="1003"/>
              <a:t> short text </a:t>
            </a:r>
            <a:r>
              <a:rPr lang="en" sz="1003"/>
              <a:t>(like news, posts, reviews).</a:t>
            </a:r>
            <a:endParaRPr sz="1003"/>
          </a:p>
          <a:p>
            <a:pPr indent="0" lvl="0" marL="403895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3"/>
          </a:p>
          <a:p>
            <a:pPr indent="-144513" lvl="0" marL="161557" rtl="0" algn="l">
              <a:spcBef>
                <a:spcPts val="0"/>
              </a:spcBef>
              <a:spcAft>
                <a:spcPts val="0"/>
              </a:spcAft>
              <a:buSzPts val="1004"/>
              <a:buChar char="→"/>
            </a:pPr>
            <a:r>
              <a:rPr lang="en" sz="1003"/>
              <a:t>Good for informal text like</a:t>
            </a:r>
            <a:r>
              <a:rPr b="1" lang="en" sz="1003"/>
              <a:t> slangs or emojis.</a:t>
            </a:r>
            <a:endParaRPr b="1" sz="1003"/>
          </a:p>
        </p:txBody>
      </p:sp>
      <p:sp>
        <p:nvSpPr>
          <p:cNvPr id="488" name="Google Shape;488;p55"/>
          <p:cNvSpPr txBox="1"/>
          <p:nvPr/>
        </p:nvSpPr>
        <p:spPr>
          <a:xfrm>
            <a:off x="99150" y="83400"/>
            <a:ext cx="36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E86AB"/>
                </a:solidFill>
              </a:rPr>
              <a:t>Sentiment Analysis Method</a:t>
            </a:r>
            <a:endParaRPr sz="100"/>
          </a:p>
        </p:txBody>
      </p:sp>
      <p:sp>
        <p:nvSpPr>
          <p:cNvPr id="489" name="Google Shape;489;p55"/>
          <p:cNvSpPr txBox="1"/>
          <p:nvPr>
            <p:ph idx="6" type="title"/>
          </p:nvPr>
        </p:nvSpPr>
        <p:spPr>
          <a:xfrm>
            <a:off x="429625" y="1990650"/>
            <a:ext cx="1523400" cy="571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it works?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490" name="Google Shape;4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782" y="2571739"/>
            <a:ext cx="8839204" cy="336649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5"/>
          <p:cNvSpPr txBox="1"/>
          <p:nvPr/>
        </p:nvSpPr>
        <p:spPr>
          <a:xfrm>
            <a:off x="2801412" y="2728683"/>
            <a:ext cx="470100" cy="28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2" name="Google Shape;492;p55"/>
          <p:cNvSpPr txBox="1"/>
          <p:nvPr/>
        </p:nvSpPr>
        <p:spPr>
          <a:xfrm>
            <a:off x="4340287" y="2728683"/>
            <a:ext cx="470100" cy="28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3" name="Google Shape;493;p55"/>
          <p:cNvSpPr txBox="1"/>
          <p:nvPr/>
        </p:nvSpPr>
        <p:spPr>
          <a:xfrm>
            <a:off x="6639237" y="2712539"/>
            <a:ext cx="470100" cy="28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94" name="Google Shape;494;p55"/>
          <p:cNvSpPr txBox="1"/>
          <p:nvPr/>
        </p:nvSpPr>
        <p:spPr>
          <a:xfrm>
            <a:off x="3412139" y="3012666"/>
            <a:ext cx="385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Indicates a positive attitude towards Meta</a:t>
            </a:r>
            <a:endParaRPr b="1" sz="1200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95" name="Google Shape;49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4170" y="3324163"/>
            <a:ext cx="5929475" cy="159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6"/>
          <p:cNvSpPr txBox="1"/>
          <p:nvPr>
            <p:ph idx="6" type="title"/>
          </p:nvPr>
        </p:nvSpPr>
        <p:spPr>
          <a:xfrm>
            <a:off x="6729232" y="1508039"/>
            <a:ext cx="1675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How it works</a:t>
            </a:r>
            <a:r>
              <a:rPr lang="en" sz="1500"/>
              <a:t>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01" name="Google Shape;501;p56"/>
          <p:cNvSpPr txBox="1"/>
          <p:nvPr/>
        </p:nvSpPr>
        <p:spPr>
          <a:xfrm>
            <a:off x="118200" y="273895"/>
            <a:ext cx="22305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E86AB"/>
                </a:solidFill>
              </a:rPr>
              <a:t>Sentiment Analysis Method</a:t>
            </a:r>
            <a:endParaRPr sz="1000"/>
          </a:p>
        </p:txBody>
      </p:sp>
      <p:pic>
        <p:nvPicPr>
          <p:cNvPr id="502" name="Google Shape;50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32" y="2329589"/>
            <a:ext cx="8839204" cy="336649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6"/>
          <p:cNvSpPr txBox="1"/>
          <p:nvPr/>
        </p:nvSpPr>
        <p:spPr>
          <a:xfrm>
            <a:off x="2664362" y="2486533"/>
            <a:ext cx="470100" cy="28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4" name="Google Shape;504;p56"/>
          <p:cNvSpPr txBox="1"/>
          <p:nvPr/>
        </p:nvSpPr>
        <p:spPr>
          <a:xfrm>
            <a:off x="4203237" y="2486533"/>
            <a:ext cx="470100" cy="28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5" name="Google Shape;505;p56"/>
          <p:cNvSpPr txBox="1"/>
          <p:nvPr/>
        </p:nvSpPr>
        <p:spPr>
          <a:xfrm>
            <a:off x="6502187" y="2470389"/>
            <a:ext cx="470100" cy="282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06" name="Google Shape;506;p56"/>
          <p:cNvSpPr txBox="1"/>
          <p:nvPr/>
        </p:nvSpPr>
        <p:spPr>
          <a:xfrm>
            <a:off x="3275089" y="2770516"/>
            <a:ext cx="385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Indicates a positive attitude </a:t>
            </a:r>
            <a:r>
              <a:rPr b="1" lang="en" sz="1200">
                <a:solidFill>
                  <a:srgbClr val="FF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towards Meta</a:t>
            </a:r>
            <a:endParaRPr b="1" sz="1200">
              <a:solidFill>
                <a:srgbClr val="FF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507" name="Google Shape;507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9832" y="3305113"/>
            <a:ext cx="5929475" cy="159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7"/>
          <p:cNvSpPr/>
          <p:nvPr/>
        </p:nvSpPr>
        <p:spPr>
          <a:xfrm flipH="1">
            <a:off x="3125563" y="1350087"/>
            <a:ext cx="2787300" cy="2346900"/>
          </a:xfrm>
          <a:prstGeom prst="round2DiagRect">
            <a:avLst>
              <a:gd fmla="val 12851" name="adj1"/>
              <a:gd fmla="val 4267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3" name="Google Shape;513;p57"/>
          <p:cNvSpPr/>
          <p:nvPr/>
        </p:nvSpPr>
        <p:spPr>
          <a:xfrm>
            <a:off x="232313" y="1350087"/>
            <a:ext cx="2787300" cy="2346900"/>
          </a:xfrm>
          <a:prstGeom prst="roundRect">
            <a:avLst>
              <a:gd fmla="val 1124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4" name="Google Shape;514;p57"/>
          <p:cNvSpPr/>
          <p:nvPr/>
        </p:nvSpPr>
        <p:spPr>
          <a:xfrm>
            <a:off x="6018813" y="1350087"/>
            <a:ext cx="2787300" cy="2346900"/>
          </a:xfrm>
          <a:prstGeom prst="roundRect">
            <a:avLst>
              <a:gd fmla="val 1124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5" name="Google Shape;515;p57"/>
          <p:cNvSpPr txBox="1"/>
          <p:nvPr>
            <p:ph idx="2" type="body"/>
          </p:nvPr>
        </p:nvSpPr>
        <p:spPr>
          <a:xfrm>
            <a:off x="232313" y="179319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b="1" lang="en"/>
              <a:t>Data Ingestion &amp; Storage: </a:t>
            </a:r>
            <a:r>
              <a:rPr lang="en"/>
              <a:t>Efficiently ingest large JSON datasets using MongoDB, which stores documents flexibly without requiring predefined schemas.</a:t>
            </a:r>
            <a:endParaRPr/>
          </a:p>
          <a:p>
            <a:pPr indent="0" lvl="0" marL="21031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b="1" lang="en"/>
              <a:t>Cleaning &amp; Transformation:</a:t>
            </a:r>
            <a:r>
              <a:rPr lang="en"/>
              <a:t> </a:t>
            </a:r>
            <a:r>
              <a:rPr lang="en"/>
              <a:t>Parse and standardize raw data, then compute aggregated sentiment metrics to enable reliable time-series analysis and visualization.</a:t>
            </a:r>
            <a:endParaRPr/>
          </a:p>
        </p:txBody>
      </p:sp>
      <p:sp>
        <p:nvSpPr>
          <p:cNvPr id="516" name="Google Shape;516;p57"/>
          <p:cNvSpPr txBox="1"/>
          <p:nvPr>
            <p:ph type="title"/>
          </p:nvPr>
        </p:nvSpPr>
        <p:spPr>
          <a:xfrm>
            <a:off x="231577" y="1336725"/>
            <a:ext cx="2432700" cy="3510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</a:t>
            </a:r>
            <a:endParaRPr/>
          </a:p>
        </p:txBody>
      </p:sp>
      <p:sp>
        <p:nvSpPr>
          <p:cNvPr id="517" name="Google Shape;517;p57"/>
          <p:cNvSpPr txBox="1"/>
          <p:nvPr>
            <p:ph idx="4" type="body"/>
          </p:nvPr>
        </p:nvSpPr>
        <p:spPr>
          <a:xfrm>
            <a:off x="3125613" y="179319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Load raw JSON data</a:t>
            </a:r>
            <a:endParaRPr/>
          </a:p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Store flexibly in MongoDB</a:t>
            </a:r>
            <a:endParaRPr/>
          </a:p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Parse and standardize key fields (e.g.  dates and sentiment values)</a:t>
            </a:r>
            <a:endParaRPr/>
          </a:p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Validate consistency against the raw dataset</a:t>
            </a:r>
            <a:endParaRPr/>
          </a:p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Aggregate daily company-level sentiment metrics</a:t>
            </a:r>
            <a:endParaRPr/>
          </a:p>
          <a:p>
            <a:pPr indent="-154940" lvl="0" marL="210312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Transition cleaned data into Spark for scalable processing</a:t>
            </a:r>
            <a:endParaRPr/>
          </a:p>
        </p:txBody>
      </p:sp>
      <p:sp>
        <p:nvSpPr>
          <p:cNvPr id="518" name="Google Shape;518;p57"/>
          <p:cNvSpPr txBox="1"/>
          <p:nvPr>
            <p:ph idx="6" type="title"/>
          </p:nvPr>
        </p:nvSpPr>
        <p:spPr>
          <a:xfrm>
            <a:off x="3125608" y="1336713"/>
            <a:ext cx="2432700" cy="3510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(Jupyter Notebook)</a:t>
            </a:r>
            <a:endParaRPr/>
          </a:p>
        </p:txBody>
      </p:sp>
      <p:sp>
        <p:nvSpPr>
          <p:cNvPr id="519" name="Google Shape;519;p57"/>
          <p:cNvSpPr txBox="1"/>
          <p:nvPr>
            <p:ph idx="3" type="body"/>
          </p:nvPr>
        </p:nvSpPr>
        <p:spPr>
          <a:xfrm>
            <a:off x="6018948" y="1793192"/>
            <a:ext cx="2787300" cy="16083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Clean dataset with normalized fields and sentiment.</a:t>
            </a:r>
            <a:br>
              <a:rPr lang="en"/>
            </a:b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→"/>
            </a:pPr>
            <a:r>
              <a:rPr lang="en"/>
              <a:t>Daily company sentiment summaries ready for visualization, and  processing.</a:t>
            </a:r>
            <a:endParaRPr/>
          </a:p>
        </p:txBody>
      </p:sp>
      <p:sp>
        <p:nvSpPr>
          <p:cNvPr id="520" name="Google Shape;520;p57"/>
          <p:cNvSpPr txBox="1"/>
          <p:nvPr>
            <p:ph idx="7" type="title"/>
          </p:nvPr>
        </p:nvSpPr>
        <p:spPr>
          <a:xfrm>
            <a:off x="6018973" y="1336718"/>
            <a:ext cx="1553400" cy="3510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521" name="Google Shape;521;p57"/>
          <p:cNvSpPr txBox="1"/>
          <p:nvPr>
            <p:ph idx="8" type="title"/>
          </p:nvPr>
        </p:nvSpPr>
        <p:spPr>
          <a:xfrm>
            <a:off x="284775" y="282900"/>
            <a:ext cx="8442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MongoDB - Data </a:t>
            </a:r>
            <a:r>
              <a:rPr lang="en"/>
              <a:t>Storage </a:t>
            </a:r>
            <a:r>
              <a:rPr lang="en"/>
              <a:t>&amp; Aggregation</a:t>
            </a:r>
            <a:endParaRPr/>
          </a:p>
        </p:txBody>
      </p:sp>
      <p:sp>
        <p:nvSpPr>
          <p:cNvPr id="522" name="Google Shape;522;p57"/>
          <p:cNvSpPr txBox="1"/>
          <p:nvPr>
            <p:ph idx="14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8"/>
          <p:cNvSpPr/>
          <p:nvPr/>
        </p:nvSpPr>
        <p:spPr>
          <a:xfrm rot="-5400000">
            <a:off x="678075" y="582750"/>
            <a:ext cx="3424200" cy="42114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8" name="Google Shape;528;p58"/>
          <p:cNvSpPr/>
          <p:nvPr/>
        </p:nvSpPr>
        <p:spPr>
          <a:xfrm rot="-5400000">
            <a:off x="978075" y="883975"/>
            <a:ext cx="3448800" cy="3633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9" name="Google Shape;529;p58"/>
          <p:cNvSpPr/>
          <p:nvPr/>
        </p:nvSpPr>
        <p:spPr>
          <a:xfrm rot="-5400000">
            <a:off x="5741250" y="-135675"/>
            <a:ext cx="2004900" cy="42291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0" name="Google Shape;530;p58"/>
          <p:cNvSpPr/>
          <p:nvPr/>
        </p:nvSpPr>
        <p:spPr>
          <a:xfrm rot="-5400000">
            <a:off x="6041175" y="183375"/>
            <a:ext cx="2024100" cy="36099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1" name="Google Shape;531;p58"/>
          <p:cNvSpPr txBox="1"/>
          <p:nvPr>
            <p:ph type="title"/>
          </p:nvPr>
        </p:nvSpPr>
        <p:spPr>
          <a:xfrm>
            <a:off x="284775" y="282900"/>
            <a:ext cx="3512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Flask</a:t>
            </a:r>
            <a:endParaRPr/>
          </a:p>
        </p:txBody>
      </p:sp>
      <p:sp>
        <p:nvSpPr>
          <p:cNvPr id="532" name="Google Shape;532;p58"/>
          <p:cNvSpPr txBox="1"/>
          <p:nvPr>
            <p:ph idx="1" type="body"/>
          </p:nvPr>
        </p:nvSpPr>
        <p:spPr>
          <a:xfrm>
            <a:off x="1212650" y="1099000"/>
            <a:ext cx="3186300" cy="3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Backend</a:t>
            </a:r>
            <a:endParaRPr b="1"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Connects to the dataset for the entire sentiment dashboard.</a:t>
            </a:r>
            <a:b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Retrieves raw news &amp; sentiment records from MongoDB.</a:t>
            </a:r>
            <a:b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Cleans, aggregates, and transforms data into frontend-ready JSON.</a:t>
            </a:r>
            <a:b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Implements REST API endpoints used by charts and UI components.</a:t>
            </a:r>
            <a:b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Outfit"/>
              <a:buChar char="●"/>
            </a:pP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Performs server-side computation to keep the frontend lightweight.</a:t>
            </a: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3" name="Google Shape;533;p58"/>
          <p:cNvSpPr txBox="1"/>
          <p:nvPr>
            <p:ph idx="3" type="body"/>
          </p:nvPr>
        </p:nvSpPr>
        <p:spPr>
          <a:xfrm>
            <a:off x="5488700" y="1335360"/>
            <a:ext cx="3391200" cy="12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/api/company_summary</a:t>
            </a: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— overall sentiment + date range</a:t>
            </a:r>
            <a:b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/api/company_stats</a:t>
            </a: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— time-series sentiment + breakdown + counts</a:t>
            </a:r>
            <a:b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</a:br>
            <a:endParaRPr sz="110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/api/articles</a:t>
            </a:r>
            <a:r>
              <a:rPr lang="en" sz="11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— paginated news with score, label, and metadata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4" name="Google Shape;534;p58"/>
          <p:cNvSpPr txBox="1"/>
          <p:nvPr>
            <p:ph idx="4" type="title"/>
          </p:nvPr>
        </p:nvSpPr>
        <p:spPr>
          <a:xfrm>
            <a:off x="5634631" y="1086911"/>
            <a:ext cx="26418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api Endpoints</a:t>
            </a:r>
            <a:endParaRPr b="1"/>
          </a:p>
        </p:txBody>
      </p:sp>
      <p:sp>
        <p:nvSpPr>
          <p:cNvPr id="535" name="Google Shape;535;p58"/>
          <p:cNvSpPr/>
          <p:nvPr/>
        </p:nvSpPr>
        <p:spPr>
          <a:xfrm rot="-5400000">
            <a:off x="6035025" y="1621050"/>
            <a:ext cx="1398300" cy="42291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6" name="Google Shape;536;p58"/>
          <p:cNvSpPr/>
          <p:nvPr/>
        </p:nvSpPr>
        <p:spPr>
          <a:xfrm rot="-5400000">
            <a:off x="6354075" y="1930575"/>
            <a:ext cx="1407900" cy="3619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7" name="Google Shape;537;p58"/>
          <p:cNvSpPr txBox="1"/>
          <p:nvPr>
            <p:ph idx="6" type="title"/>
          </p:nvPr>
        </p:nvSpPr>
        <p:spPr>
          <a:xfrm>
            <a:off x="5532555" y="3087888"/>
            <a:ext cx="24192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Score formula</a:t>
            </a:r>
            <a:endParaRPr b="1"/>
          </a:p>
        </p:txBody>
      </p:sp>
      <p:pic>
        <p:nvPicPr>
          <p:cNvPr id="538" name="Google Shape;5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875" y="3394375"/>
            <a:ext cx="2571749" cy="104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9"/>
          <p:cNvSpPr/>
          <p:nvPr/>
        </p:nvSpPr>
        <p:spPr>
          <a:xfrm rot="-5400000">
            <a:off x="6400950" y="2209650"/>
            <a:ext cx="1885500" cy="34098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2100" lIns="82100" spcFirstLastPara="1" rIns="82100" wrap="square" tIns="8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4" name="Google Shape;544;p59"/>
          <p:cNvSpPr/>
          <p:nvPr/>
        </p:nvSpPr>
        <p:spPr>
          <a:xfrm rot="-5400000">
            <a:off x="1194200" y="-179868"/>
            <a:ext cx="3278700" cy="52512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D0E2F3"/>
          </a:solidFill>
          <a:ln>
            <a:noFill/>
          </a:ln>
        </p:spPr>
        <p:txBody>
          <a:bodyPr anchorCtr="0" anchor="ctr" bIns="82100" lIns="82100" spcFirstLastPara="1" rIns="82100" wrap="square" tIns="8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5" name="Google Shape;545;p59"/>
          <p:cNvSpPr/>
          <p:nvPr/>
        </p:nvSpPr>
        <p:spPr>
          <a:xfrm rot="-5400000">
            <a:off x="1484115" y="94950"/>
            <a:ext cx="3287700" cy="4710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2100" lIns="82100" spcFirstLastPara="1" rIns="82100" wrap="square" tIns="82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6" name="Google Shape;546;p59"/>
          <p:cNvSpPr txBox="1"/>
          <p:nvPr>
            <p:ph type="title"/>
          </p:nvPr>
        </p:nvSpPr>
        <p:spPr>
          <a:xfrm>
            <a:off x="258600" y="100025"/>
            <a:ext cx="8055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Building the key APIs</a:t>
            </a:r>
            <a:endParaRPr/>
          </a:p>
        </p:txBody>
      </p:sp>
      <p:graphicFrame>
        <p:nvGraphicFramePr>
          <p:cNvPr id="547" name="Google Shape;547;p59"/>
          <p:cNvGraphicFramePr/>
          <p:nvPr/>
        </p:nvGraphicFramePr>
        <p:xfrm>
          <a:off x="1000288" y="101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{C404C9F4-EA30-433D-9D6C-0B40C501D035}</a:tableStyleId>
              </a:tblPr>
              <a:tblGrid>
                <a:gridCol w="1123900"/>
                <a:gridCol w="3231950"/>
              </a:tblGrid>
              <a:tr h="325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Package / Tool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Role</a:t>
                      </a:r>
                      <a:endParaRPr b="1" sz="700"/>
                    </a:p>
                  </a:txBody>
                  <a:tcPr marT="91425" marB="91425" marR="91425" marL="91425"/>
                </a:tc>
              </a:tr>
              <a:tr h="42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Flask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Web framework creating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/api/...</a:t>
                      </a:r>
                      <a:r>
                        <a:rPr lang="en" sz="800"/>
                        <a:t> endpoints；returns JSON using </a:t>
                      </a:r>
                      <a:r>
                        <a:rPr lang="en" sz="8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jsonify()</a:t>
                      </a:r>
                      <a:endParaRPr sz="8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</a:tr>
              <a:tr h="34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Flask-CORS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Allows JavaScript frontend to call Flask API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PyMongo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MongoDB driver for Python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2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Datetime / Math / Numpy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Used for time-decay weighting &amp; EMA-like scoring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2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Custom Python Modules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Implement sentiment scoring logic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3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JSON (Flask jsonify)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REST response format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48" name="Google Shape;54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450" y="705975"/>
            <a:ext cx="3158152" cy="2227451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9"/>
          <p:cNvSpPr txBox="1"/>
          <p:nvPr>
            <p:ph type="title"/>
          </p:nvPr>
        </p:nvSpPr>
        <p:spPr>
          <a:xfrm>
            <a:off x="5779075" y="389400"/>
            <a:ext cx="2396100" cy="2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/>
              <a:t>c</a:t>
            </a:r>
            <a:r>
              <a:rPr lang="en" sz="1800"/>
              <a:t>ompany_summary</a:t>
            </a:r>
            <a:endParaRPr sz="1800"/>
          </a:p>
        </p:txBody>
      </p:sp>
      <p:sp>
        <p:nvSpPr>
          <p:cNvPr id="550" name="Google Shape;550;p59"/>
          <p:cNvSpPr txBox="1"/>
          <p:nvPr/>
        </p:nvSpPr>
        <p:spPr>
          <a:xfrm>
            <a:off x="5621575" y="3040775"/>
            <a:ext cx="3447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First, design RESTful route endpoints to query receive parameters </a:t>
            </a:r>
            <a:r>
              <a:rPr lang="en" sz="900"/>
              <a:t>from </a:t>
            </a:r>
            <a:r>
              <a:rPr lang="en" sz="900"/>
              <a:t>the front end (such as company name and date range).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Next, use PyMongo to execute efficient Aggregation Pipeline operations for filtering, grouping, and aggregating the data.</a:t>
            </a:r>
            <a:endParaRPr sz="9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Finally, in the Python layer, apply a custom time-decay algorithm to weight the sentiment scores, serialise the cleaned data into JSON format, and return it to the front end to support dynamic chart rendering.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0"/>
          <p:cNvSpPr/>
          <p:nvPr/>
        </p:nvSpPr>
        <p:spPr>
          <a:xfrm rot="-5400000">
            <a:off x="1754388" y="-64925"/>
            <a:ext cx="3424200" cy="56046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6" name="Google Shape;556;p60"/>
          <p:cNvSpPr/>
          <p:nvPr/>
        </p:nvSpPr>
        <p:spPr>
          <a:xfrm rot="-5400000">
            <a:off x="3228962" y="-882700"/>
            <a:ext cx="3448800" cy="7264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60"/>
          <p:cNvSpPr txBox="1"/>
          <p:nvPr>
            <p:ph type="title"/>
          </p:nvPr>
        </p:nvSpPr>
        <p:spPr>
          <a:xfrm>
            <a:off x="284775" y="282900"/>
            <a:ext cx="35121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/>
              <a:t>Frontend </a:t>
            </a:r>
            <a:endParaRPr/>
          </a:p>
        </p:txBody>
      </p:sp>
      <p:graphicFrame>
        <p:nvGraphicFramePr>
          <p:cNvPr id="558" name="Google Shape;558;p60"/>
          <p:cNvGraphicFramePr/>
          <p:nvPr/>
        </p:nvGraphicFramePr>
        <p:xfrm>
          <a:off x="1801975" y="12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{C404C9F4-EA30-433D-9D6C-0B40C501D035}</a:tableStyleId>
              </a:tblPr>
              <a:tblGrid>
                <a:gridCol w="2236900"/>
                <a:gridCol w="4065825"/>
              </a:tblGrid>
              <a:tr h="263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Tool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Purpose</a:t>
                      </a:r>
                      <a:endParaRPr b="1" sz="1300"/>
                    </a:p>
                  </a:txBody>
                  <a:tcPr marT="91425" marB="91425" marR="91425" marL="91425"/>
                </a:tc>
              </a:tr>
              <a:tr h="3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JavaScript ES6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Core logic, fetch API, UI interaction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9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Chart.js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Visualizations: trend line + sentiment breakdown pie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Bootstrap 5.3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Responsive UI &amp; layout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1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Browser Fetch API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Calls Flask REST API endpoints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42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Regular Expressions (JS RegExp)</a:t>
                      </a:r>
                      <a:endParaRPr b="1"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Clean article titles and descriptions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59" name="Google Shape;559;p60"/>
          <p:cNvPicPr preferRelativeResize="0"/>
          <p:nvPr/>
        </p:nvPicPr>
        <p:blipFill rotWithShape="1">
          <a:blip r:embed="rId3">
            <a:alphaModFix/>
          </a:blip>
          <a:srcRect b="0" l="3752" r="2191" t="0"/>
          <a:stretch/>
        </p:blipFill>
        <p:spPr>
          <a:xfrm>
            <a:off x="3622775" y="4465225"/>
            <a:ext cx="3303576" cy="25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600" y="4465229"/>
            <a:ext cx="3056176" cy="252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1"/>
          <p:cNvSpPr/>
          <p:nvPr/>
        </p:nvSpPr>
        <p:spPr>
          <a:xfrm flipH="1">
            <a:off x="284775" y="726300"/>
            <a:ext cx="2163300" cy="22371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2325" lIns="62325" spcFirstLastPara="1" rIns="62325" wrap="square" tIns="62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6" name="Google Shape;566;p61"/>
          <p:cNvSpPr/>
          <p:nvPr/>
        </p:nvSpPr>
        <p:spPr>
          <a:xfrm flipH="1">
            <a:off x="3072075" y="778275"/>
            <a:ext cx="2360700" cy="2368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7" name="Google Shape;567;p61"/>
          <p:cNvSpPr/>
          <p:nvPr/>
        </p:nvSpPr>
        <p:spPr>
          <a:xfrm flipH="1">
            <a:off x="284775" y="961290"/>
            <a:ext cx="2163300" cy="20022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2325" lIns="62325" spcFirstLastPara="1" rIns="62325" wrap="square" tIns="62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8" name="Google Shape;568;p61"/>
          <p:cNvSpPr/>
          <p:nvPr/>
        </p:nvSpPr>
        <p:spPr>
          <a:xfrm flipH="1">
            <a:off x="3072075" y="1027048"/>
            <a:ext cx="2360700" cy="2119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69" name="Google Shape;569;p61"/>
          <p:cNvSpPr txBox="1"/>
          <p:nvPr>
            <p:ph idx="1" type="body"/>
          </p:nvPr>
        </p:nvSpPr>
        <p:spPr>
          <a:xfrm>
            <a:off x="349745" y="1519603"/>
            <a:ext cx="2038200" cy="1426200"/>
          </a:xfrm>
          <a:prstGeom prst="rect">
            <a:avLst/>
          </a:prstGeom>
        </p:spPr>
        <p:txBody>
          <a:bodyPr anchorCtr="0" anchor="b" bIns="62325" lIns="62325" spcFirstLastPara="1" rIns="62325" wrap="square" tIns="62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 sentiment trends to inform buy/sell decisions</a:t>
            </a:r>
            <a:br>
              <a:rPr lang="en" sz="9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4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news impact on companies and sectors</a:t>
            </a:r>
            <a:br>
              <a:rPr lang="en" sz="9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4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4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early signals of risk or opportunity</a:t>
            </a:r>
            <a:endParaRPr sz="94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61"/>
          <p:cNvSpPr txBox="1"/>
          <p:nvPr>
            <p:ph type="title"/>
          </p:nvPr>
        </p:nvSpPr>
        <p:spPr>
          <a:xfrm>
            <a:off x="341085" y="942638"/>
            <a:ext cx="1672500" cy="428100"/>
          </a:xfrm>
          <a:prstGeom prst="rect">
            <a:avLst/>
          </a:prstGeom>
        </p:spPr>
        <p:txBody>
          <a:bodyPr anchorCtr="0" anchor="t" bIns="62325" lIns="62325" spcFirstLastPara="1" rIns="62325" wrap="square" tIns="62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"/>
              <a:t>Use Case 1 - </a:t>
            </a:r>
            <a:endParaRPr sz="109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90"/>
              <a:t>Investors &amp; Analysts</a:t>
            </a:r>
            <a:endParaRPr sz="1090"/>
          </a:p>
        </p:txBody>
      </p:sp>
      <p:sp>
        <p:nvSpPr>
          <p:cNvPr id="571" name="Google Shape;571;p61"/>
          <p:cNvSpPr txBox="1"/>
          <p:nvPr>
            <p:ph idx="7" type="title"/>
          </p:nvPr>
        </p:nvSpPr>
        <p:spPr>
          <a:xfrm>
            <a:off x="3170694" y="1026906"/>
            <a:ext cx="1978200" cy="453300"/>
          </a:xfrm>
          <a:prstGeom prst="rect">
            <a:avLst/>
          </a:prstGeom>
        </p:spPr>
        <p:txBody>
          <a:bodyPr anchorCtr="0" anchor="t" bIns="65975" lIns="65975" spcFirstLastPara="1" rIns="65975" wrap="square" tIns="659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4"/>
              <a:t>Use Case 2 -  Corporate Teams</a:t>
            </a:r>
            <a:endParaRPr sz="1154"/>
          </a:p>
        </p:txBody>
      </p:sp>
      <p:sp>
        <p:nvSpPr>
          <p:cNvPr id="572" name="Google Shape;572;p61"/>
          <p:cNvSpPr txBox="1"/>
          <p:nvPr>
            <p:ph idx="2" type="body"/>
          </p:nvPr>
        </p:nvSpPr>
        <p:spPr>
          <a:xfrm>
            <a:off x="3201648" y="1383445"/>
            <a:ext cx="2163300" cy="1696800"/>
          </a:xfrm>
          <a:prstGeom prst="rect">
            <a:avLst/>
          </a:prstGeom>
        </p:spPr>
        <p:txBody>
          <a:bodyPr anchorCtr="0" anchor="b" bIns="65975" lIns="65975" spcFirstLastPara="1" rIns="65975" wrap="square" tIns="659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" sz="9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sentiment across competitors</a:t>
            </a:r>
            <a:br>
              <a:rPr lang="en" sz="9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9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None/>
            </a:pPr>
            <a:r>
              <a:rPr lang="en" sz="9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public perception over time</a:t>
            </a:r>
            <a:endParaRPr sz="99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9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9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Assess how major announcements influence market sentiment</a:t>
            </a:r>
            <a:endParaRPr sz="9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61"/>
          <p:cNvSpPr txBox="1"/>
          <p:nvPr>
            <p:ph idx="9" type="title"/>
          </p:nvPr>
        </p:nvSpPr>
        <p:spPr>
          <a:xfrm>
            <a:off x="284775" y="282900"/>
            <a:ext cx="85749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Business Use Case &amp; Future Enhancements</a:t>
            </a:r>
            <a:endParaRPr sz="3200"/>
          </a:p>
        </p:txBody>
      </p:sp>
      <p:sp>
        <p:nvSpPr>
          <p:cNvPr id="574" name="Google Shape;574;p61"/>
          <p:cNvSpPr/>
          <p:nvPr/>
        </p:nvSpPr>
        <p:spPr>
          <a:xfrm flipH="1">
            <a:off x="6043900" y="778150"/>
            <a:ext cx="2360700" cy="236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5237E6"/>
          </a:solidFill>
          <a:ln>
            <a:noFill/>
          </a:ln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5" name="Google Shape;575;p61"/>
          <p:cNvSpPr/>
          <p:nvPr/>
        </p:nvSpPr>
        <p:spPr>
          <a:xfrm flipH="1">
            <a:off x="6043900" y="1026918"/>
            <a:ext cx="2360700" cy="21195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5975" lIns="65975" spcFirstLastPara="1" rIns="65975" wrap="square" tIns="65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3"/>
              <a:t>Expand Stock Selection</a:t>
            </a:r>
            <a:endParaRPr b="1"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3"/>
              <a:t>Real-time Alerts:</a:t>
            </a:r>
            <a:r>
              <a:rPr lang="en" sz="893"/>
              <a:t> Notify users when sentiment drops sharply or article volume spikes.</a:t>
            </a:r>
            <a:br>
              <a:rPr lang="en" sz="893"/>
            </a:br>
            <a:endParaRPr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3"/>
              <a:t>Correlation Analysis:</a:t>
            </a:r>
            <a:r>
              <a:rPr lang="en" sz="893"/>
              <a:t> Examine relationships between sentiment trends and stock price movements.</a:t>
            </a:r>
            <a:br>
              <a:rPr lang="en" sz="893"/>
            </a:br>
            <a:endParaRPr sz="89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93"/>
              <a:t>Predictive Modeling:</a:t>
            </a:r>
            <a:r>
              <a:rPr lang="en" sz="893"/>
              <a:t> Use historical sentiment and price patterns to forecast future market behavior.</a:t>
            </a:r>
            <a:endParaRPr sz="89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6" name="Google Shape;576;p61"/>
          <p:cNvSpPr txBox="1"/>
          <p:nvPr>
            <p:ph idx="7" type="title"/>
          </p:nvPr>
        </p:nvSpPr>
        <p:spPr>
          <a:xfrm>
            <a:off x="6092928" y="1062141"/>
            <a:ext cx="1978200" cy="293100"/>
          </a:xfrm>
          <a:prstGeom prst="rect">
            <a:avLst/>
          </a:prstGeom>
        </p:spPr>
        <p:txBody>
          <a:bodyPr anchorCtr="0" anchor="t" bIns="65975" lIns="65975" spcFirstLastPara="1" rIns="65975" wrap="square" tIns="659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4"/>
              <a:t>Future Enhancement</a:t>
            </a:r>
            <a:endParaRPr sz="1154"/>
          </a:p>
        </p:txBody>
      </p:sp>
      <p:sp>
        <p:nvSpPr>
          <p:cNvPr id="577" name="Google Shape;577;p61"/>
          <p:cNvSpPr txBox="1"/>
          <p:nvPr>
            <p:ph type="title"/>
          </p:nvPr>
        </p:nvSpPr>
        <p:spPr>
          <a:xfrm>
            <a:off x="284775" y="3094638"/>
            <a:ext cx="7851300" cy="249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</a:t>
            </a:r>
            <a:endParaRPr/>
          </a:p>
        </p:txBody>
      </p:sp>
      <p:sp>
        <p:nvSpPr>
          <p:cNvPr id="578" name="Google Shape;578;p61"/>
          <p:cNvSpPr/>
          <p:nvPr/>
        </p:nvSpPr>
        <p:spPr>
          <a:xfrm>
            <a:off x="383025" y="3343950"/>
            <a:ext cx="2038200" cy="1752300"/>
          </a:xfrm>
          <a:prstGeom prst="roundRect">
            <a:avLst>
              <a:gd fmla="val 1109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79" name="Google Shape;579;p61"/>
          <p:cNvSpPr txBox="1"/>
          <p:nvPr>
            <p:ph idx="13" type="subTitle"/>
          </p:nvPr>
        </p:nvSpPr>
        <p:spPr>
          <a:xfrm>
            <a:off x="654525" y="3345559"/>
            <a:ext cx="1655100" cy="307200"/>
          </a:xfrm>
          <a:prstGeom prst="rect">
            <a:avLst/>
          </a:prstGeom>
        </p:spPr>
        <p:txBody>
          <a:bodyPr anchorCtr="0" anchor="t" bIns="50300" lIns="50300" spcFirstLastPara="1" rIns="50300" wrap="square" tIns="503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605"/>
              <a:buFont typeface="Arial"/>
              <a:buNone/>
            </a:pPr>
            <a:r>
              <a:rPr lang="en" sz="1125"/>
              <a:t>API Paid Account </a:t>
            </a:r>
            <a:endParaRPr sz="1125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70"/>
          </a:p>
        </p:txBody>
      </p:sp>
      <p:sp>
        <p:nvSpPr>
          <p:cNvPr id="580" name="Google Shape;580;p61"/>
          <p:cNvSpPr txBox="1"/>
          <p:nvPr>
            <p:ph idx="4294967295" type="subTitle"/>
          </p:nvPr>
        </p:nvSpPr>
        <p:spPr>
          <a:xfrm>
            <a:off x="383025" y="3763273"/>
            <a:ext cx="2038200" cy="1326900"/>
          </a:xfrm>
          <a:prstGeom prst="rect">
            <a:avLst/>
          </a:prstGeom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0"/>
              <a:t>We will use NEWSAPI Business  plan for broder API search and download.</a:t>
            </a:r>
            <a:endParaRPr sz="9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70"/>
              <a:t>$449/per month</a:t>
            </a:r>
            <a:endParaRPr b="1" sz="970"/>
          </a:p>
        </p:txBody>
      </p:sp>
      <p:sp>
        <p:nvSpPr>
          <p:cNvPr id="581" name="Google Shape;581;p61"/>
          <p:cNvSpPr/>
          <p:nvPr/>
        </p:nvSpPr>
        <p:spPr>
          <a:xfrm>
            <a:off x="3115063" y="3358350"/>
            <a:ext cx="2317800" cy="1728600"/>
          </a:xfrm>
          <a:prstGeom prst="roundRect">
            <a:avLst>
              <a:gd fmla="val 1109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9625" lIns="49625" spcFirstLastPara="1" rIns="49625" wrap="square" tIns="49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9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2" name="Google Shape;582;p61"/>
          <p:cNvSpPr txBox="1"/>
          <p:nvPr>
            <p:ph idx="14" type="subTitle"/>
          </p:nvPr>
        </p:nvSpPr>
        <p:spPr>
          <a:xfrm>
            <a:off x="3115063" y="3359935"/>
            <a:ext cx="2171700" cy="411900"/>
          </a:xfrm>
          <a:prstGeom prst="rect">
            <a:avLst/>
          </a:prstGeom>
        </p:spPr>
        <p:txBody>
          <a:bodyPr anchorCtr="0" anchor="t" bIns="49625" lIns="49625" spcFirstLastPara="1" rIns="49625" wrap="square" tIns="49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5"/>
              <a:t>Data Storage</a:t>
            </a:r>
            <a:endParaRPr sz="1325"/>
          </a:p>
        </p:txBody>
      </p:sp>
      <p:sp>
        <p:nvSpPr>
          <p:cNvPr id="583" name="Google Shape;583;p61"/>
          <p:cNvSpPr txBox="1"/>
          <p:nvPr/>
        </p:nvSpPr>
        <p:spPr>
          <a:xfrm>
            <a:off x="3115063" y="3771925"/>
            <a:ext cx="2317800" cy="1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9250" lIns="99250" spcFirstLastPara="1" rIns="9925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9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Started free, up until 512 MB storage, but cost incurs as data grows; additional cost is associated with cloud backups.</a:t>
            </a:r>
            <a:endParaRPr sz="959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9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 </a:t>
            </a:r>
            <a:r>
              <a:rPr lang="en" sz="959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</a:t>
            </a:r>
            <a:endParaRPr sz="959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9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5GB Storage ~ </a:t>
            </a:r>
            <a:endParaRPr sz="959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9">
                <a:solidFill>
                  <a:srgbClr val="3D3D3D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      $25/ per month</a:t>
            </a:r>
            <a:endParaRPr b="1" sz="959">
              <a:solidFill>
                <a:srgbClr val="3D3D3D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84" name="Google Shape;584;p61"/>
          <p:cNvSpPr/>
          <p:nvPr/>
        </p:nvSpPr>
        <p:spPr>
          <a:xfrm>
            <a:off x="6127000" y="3406794"/>
            <a:ext cx="2214900" cy="1665900"/>
          </a:xfrm>
          <a:prstGeom prst="roundRect">
            <a:avLst>
              <a:gd fmla="val 1109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160225" lIns="160225" spcFirstLastPara="1" rIns="160225" wrap="square" tIns="160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53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85" name="Google Shape;585;p61"/>
          <p:cNvSpPr txBox="1"/>
          <p:nvPr>
            <p:ph idx="4294967295" type="subTitle"/>
          </p:nvPr>
        </p:nvSpPr>
        <p:spPr>
          <a:xfrm>
            <a:off x="6273103" y="3343950"/>
            <a:ext cx="2131500" cy="449400"/>
          </a:xfrm>
          <a:prstGeom prst="rect">
            <a:avLst/>
          </a:prstGeom>
        </p:spPr>
        <p:txBody>
          <a:bodyPr anchorCtr="0" anchor="t" bIns="160225" lIns="160225" spcFirstLastPara="1" rIns="160225" wrap="square" tIns="1602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2"/>
              <a:t>Web Maintenance</a:t>
            </a:r>
            <a:endParaRPr sz="1302"/>
          </a:p>
        </p:txBody>
      </p:sp>
      <p:sp>
        <p:nvSpPr>
          <p:cNvPr id="586" name="Google Shape;586;p61"/>
          <p:cNvSpPr txBox="1"/>
          <p:nvPr>
            <p:ph idx="5" type="subTitle"/>
          </p:nvPr>
        </p:nvSpPr>
        <p:spPr>
          <a:xfrm>
            <a:off x="6127000" y="3805369"/>
            <a:ext cx="2214900" cy="1261200"/>
          </a:xfrm>
          <a:prstGeom prst="rect">
            <a:avLst/>
          </a:prstGeom>
        </p:spPr>
        <p:txBody>
          <a:bodyPr anchorCtr="0" anchor="t" bIns="160225" lIns="160225" spcFirstLastPara="1" rIns="160225" wrap="square" tIns="160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50"/>
              <a:t>Cloud Hosting for Flask backend and Sentiment Dashboard.</a:t>
            </a:r>
            <a:endParaRPr b="0" sz="1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$15/ per month</a:t>
            </a:r>
            <a:endParaRPr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